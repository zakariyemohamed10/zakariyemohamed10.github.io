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8" r:id="rId2"/>
    <p:sldId id="286" r:id="rId3"/>
    <p:sldId id="274" r:id="rId4"/>
    <p:sldId id="260" r:id="rId5"/>
    <p:sldId id="261" r:id="rId6"/>
    <p:sldId id="272" r:id="rId7"/>
    <p:sldId id="267" r:id="rId8"/>
    <p:sldId id="275" r:id="rId9"/>
    <p:sldId id="279" r:id="rId10"/>
    <p:sldId id="280" r:id="rId11"/>
    <p:sldId id="277" r:id="rId12"/>
    <p:sldId id="278" r:id="rId13"/>
    <p:sldId id="281" r:id="rId14"/>
    <p:sldId id="284" r:id="rId15"/>
    <p:sldId id="276" r:id="rId16"/>
    <p:sldId id="282" r:id="rId17"/>
    <p:sldId id="283" r:id="rId18"/>
    <p:sldId id="288" r:id="rId19"/>
    <p:sldId id="265" r:id="rId20"/>
    <p:sldId id="289" r:id="rId21"/>
    <p:sldId id="266" r:id="rId22"/>
    <p:sldId id="285" r:id="rId23"/>
  </p:sldIdLst>
  <p:sldSz cx="12192000" cy="6858000"/>
  <p:notesSz cx="6858000" cy="9144000"/>
  <p:defaultTex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57A"/>
    <a:srgbClr val="4619B7"/>
    <a:srgbClr val="4848F6"/>
    <a:srgbClr val="300371"/>
    <a:srgbClr val="5505C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User\Desktop\Data%20Analytics%20Course\Excel\RR-FP%20-%20Dataset%20-%20EnterpriseGoose%20(version%202).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d.docs.live.net/904448e447c39632/Documents/Group%20Project/G2_MASTERSHEET.xlsx"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pivotSource>
    <c:name>[RR-FP - Dataset - EnterpriseGoose (version 2).xlsx]Pivot table Clients!PivotTable3</c:name>
    <c:fmtId val="14"/>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GB" sz="1400" b="1" i="0" u="none" strike="noStrike" baseline="0"/>
              <a:t>Which locations have the most existing clients?</a:t>
            </a:r>
            <a:endParaRPr lang="en-US" b="1"/>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bar"/>
        <c:grouping val="clustered"/>
        <c:varyColors val="0"/>
        <c:ser>
          <c:idx val="0"/>
          <c:order val="0"/>
          <c:tx>
            <c:strRef>
              <c:f>'Pivot table Clients'!$G$3</c:f>
              <c:strCache>
                <c:ptCount val="1"/>
                <c:pt idx="0">
                  <c:v>Total</c:v>
                </c:pt>
              </c:strCache>
            </c:strRef>
          </c:tx>
          <c:spPr>
            <a:solidFill>
              <a:schemeClr val="accent1"/>
            </a:solidFill>
            <a:ln>
              <a:noFill/>
            </a:ln>
            <a:effectLst/>
          </c:spPr>
          <c:invertIfNegative val="0"/>
          <c:cat>
            <c:strRef>
              <c:f>'Pivot table Clients'!$F$4:$F$29</c:f>
              <c:strCache>
                <c:ptCount val="25"/>
                <c:pt idx="0">
                  <c:v>Nigeria</c:v>
                </c:pt>
                <c:pt idx="1">
                  <c:v>Italy</c:v>
                </c:pt>
                <c:pt idx="2">
                  <c:v>Egypt</c:v>
                </c:pt>
                <c:pt idx="3">
                  <c:v>Poland</c:v>
                </c:pt>
                <c:pt idx="4">
                  <c:v>Czechia</c:v>
                </c:pt>
                <c:pt idx="5">
                  <c:v>United Arab Emirates</c:v>
                </c:pt>
                <c:pt idx="6">
                  <c:v>Spain</c:v>
                </c:pt>
                <c:pt idx="7">
                  <c:v>United States</c:v>
                </c:pt>
                <c:pt idx="8">
                  <c:v>Saudi Arabia</c:v>
                </c:pt>
                <c:pt idx="9">
                  <c:v>Netherlands</c:v>
                </c:pt>
                <c:pt idx="10">
                  <c:v>France</c:v>
                </c:pt>
                <c:pt idx="11">
                  <c:v>Norway</c:v>
                </c:pt>
                <c:pt idx="12">
                  <c:v>Sweden</c:v>
                </c:pt>
                <c:pt idx="13">
                  <c:v>Canada</c:v>
                </c:pt>
                <c:pt idx="14">
                  <c:v>Qatar</c:v>
                </c:pt>
                <c:pt idx="15">
                  <c:v>Morocco</c:v>
                </c:pt>
                <c:pt idx="16">
                  <c:v>Turkey</c:v>
                </c:pt>
                <c:pt idx="17">
                  <c:v>Germany</c:v>
                </c:pt>
                <c:pt idx="18">
                  <c:v>Kenya</c:v>
                </c:pt>
                <c:pt idx="19">
                  <c:v>Switzerland</c:v>
                </c:pt>
                <c:pt idx="20">
                  <c:v>South Africa</c:v>
                </c:pt>
                <c:pt idx="21">
                  <c:v>Denmark</c:v>
                </c:pt>
                <c:pt idx="22">
                  <c:v>Belgium</c:v>
                </c:pt>
                <c:pt idx="23">
                  <c:v>Ireland</c:v>
                </c:pt>
                <c:pt idx="24">
                  <c:v>United Kingdom</c:v>
                </c:pt>
              </c:strCache>
            </c:strRef>
          </c:cat>
          <c:val>
            <c:numRef>
              <c:f>'Pivot table Clients'!$G$4:$G$29</c:f>
              <c:numCache>
                <c:formatCode>General</c:formatCode>
                <c:ptCount val="25"/>
                <c:pt idx="0">
                  <c:v>1</c:v>
                </c:pt>
                <c:pt idx="1">
                  <c:v>1</c:v>
                </c:pt>
                <c:pt idx="2">
                  <c:v>2</c:v>
                </c:pt>
                <c:pt idx="3">
                  <c:v>2</c:v>
                </c:pt>
                <c:pt idx="4">
                  <c:v>2</c:v>
                </c:pt>
                <c:pt idx="5">
                  <c:v>3</c:v>
                </c:pt>
                <c:pt idx="6">
                  <c:v>3</c:v>
                </c:pt>
                <c:pt idx="7">
                  <c:v>3</c:v>
                </c:pt>
                <c:pt idx="8">
                  <c:v>3</c:v>
                </c:pt>
                <c:pt idx="9">
                  <c:v>4</c:v>
                </c:pt>
                <c:pt idx="10">
                  <c:v>4</c:v>
                </c:pt>
                <c:pt idx="11">
                  <c:v>4</c:v>
                </c:pt>
                <c:pt idx="12">
                  <c:v>4</c:v>
                </c:pt>
                <c:pt idx="13">
                  <c:v>5</c:v>
                </c:pt>
                <c:pt idx="14">
                  <c:v>5</c:v>
                </c:pt>
                <c:pt idx="15">
                  <c:v>5</c:v>
                </c:pt>
                <c:pt idx="16">
                  <c:v>5</c:v>
                </c:pt>
                <c:pt idx="17">
                  <c:v>5</c:v>
                </c:pt>
                <c:pt idx="18">
                  <c:v>6</c:v>
                </c:pt>
                <c:pt idx="19">
                  <c:v>7</c:v>
                </c:pt>
                <c:pt idx="20">
                  <c:v>7</c:v>
                </c:pt>
                <c:pt idx="21">
                  <c:v>8</c:v>
                </c:pt>
                <c:pt idx="22">
                  <c:v>10</c:v>
                </c:pt>
                <c:pt idx="23">
                  <c:v>80</c:v>
                </c:pt>
                <c:pt idx="24">
                  <c:v>171</c:v>
                </c:pt>
              </c:numCache>
            </c:numRef>
          </c:val>
          <c:extLst>
            <c:ext xmlns:c16="http://schemas.microsoft.com/office/drawing/2014/chart" uri="{C3380CC4-5D6E-409C-BE32-E72D297353CC}">
              <c16:uniqueId val="{00000000-4775-4D14-A413-4E6E44E7544B}"/>
            </c:ext>
          </c:extLst>
        </c:ser>
        <c:dLbls>
          <c:showLegendKey val="0"/>
          <c:showVal val="0"/>
          <c:showCatName val="0"/>
          <c:showSerName val="0"/>
          <c:showPercent val="0"/>
          <c:showBubbleSize val="0"/>
        </c:dLbls>
        <c:gapWidth val="150"/>
        <c:axId val="216491888"/>
        <c:axId val="216492368"/>
      </c:barChart>
      <c:catAx>
        <c:axId val="216491888"/>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16492368"/>
        <c:crosses val="autoZero"/>
        <c:auto val="1"/>
        <c:lblAlgn val="ctr"/>
        <c:lblOffset val="100"/>
        <c:noMultiLvlLbl val="0"/>
      </c:catAx>
      <c:valAx>
        <c:axId val="216492368"/>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16491888"/>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pivotSource>
    <c:name>[G2_MASTERSHEET.xlsx]Field_Analysis!PivotTable7</c:name>
    <c:fmtId val="8"/>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GB"/>
              <a:t>Industry Growth</a:t>
            </a:r>
          </a:p>
        </c:rich>
      </c:tx>
      <c:layout>
        <c:manualLayout>
          <c:xMode val="edge"/>
          <c:yMode val="edge"/>
          <c:x val="0.43152708228296999"/>
          <c:y val="9.1021427531333521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9"/>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9"/>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Field_Analysis!$O$2</c:f>
              <c:strCache>
                <c:ptCount val="1"/>
                <c:pt idx="0">
                  <c:v>Total</c:v>
                </c:pt>
              </c:strCache>
            </c:strRef>
          </c:tx>
          <c:spPr>
            <a:solidFill>
              <a:schemeClr val="accent1"/>
            </a:solidFill>
            <a:ln>
              <a:noFill/>
            </a:ln>
            <a:effectLst/>
          </c:spPr>
          <c:invertIfNegative val="0"/>
          <c:cat>
            <c:strRef>
              <c:f>Field_Analysis!$N$3:$N$22</c:f>
              <c:strCache>
                <c:ptCount val="19"/>
                <c:pt idx="0">
                  <c:v>Aerospace &amp; Defence</c:v>
                </c:pt>
                <c:pt idx="1">
                  <c:v>Automotive &amp; Transport</c:v>
                </c:pt>
                <c:pt idx="2">
                  <c:v>Climate &amp; Sustainability</c:v>
                </c:pt>
                <c:pt idx="3">
                  <c:v>Data</c:v>
                </c:pt>
                <c:pt idx="4">
                  <c:v>Energy &amp; Utilities</c:v>
                </c:pt>
                <c:pt idx="5">
                  <c:v>Finance</c:v>
                </c:pt>
                <c:pt idx="6">
                  <c:v>Financial Services</c:v>
                </c:pt>
                <c:pt idx="7">
                  <c:v>Fintech</c:v>
                </c:pt>
                <c:pt idx="8">
                  <c:v>Gas &amp; Water</c:v>
                </c:pt>
                <c:pt idx="9">
                  <c:v>Healthcare &amp; Life Sciences</c:v>
                </c:pt>
                <c:pt idx="10">
                  <c:v>Hospitality &amp; Travel</c:v>
                </c:pt>
                <c:pt idx="11">
                  <c:v>Industrial Manufacturing</c:v>
                </c:pt>
                <c:pt idx="12">
                  <c:v>Media &amp; Entertainment</c:v>
                </c:pt>
                <c:pt idx="13">
                  <c:v>Public Sector</c:v>
                </c:pt>
                <c:pt idx="14">
                  <c:v>Retail &amp; Consumer</c:v>
                </c:pt>
                <c:pt idx="15">
                  <c:v>Technology</c:v>
                </c:pt>
                <c:pt idx="16">
                  <c:v>Technology &amp; SaaS</c:v>
                </c:pt>
                <c:pt idx="17">
                  <c:v>Utilities</c:v>
                </c:pt>
                <c:pt idx="18">
                  <c:v>Water</c:v>
                </c:pt>
              </c:strCache>
            </c:strRef>
          </c:cat>
          <c:val>
            <c:numRef>
              <c:f>Field_Analysis!$O$3:$O$22</c:f>
              <c:numCache>
                <c:formatCode>General</c:formatCode>
                <c:ptCount val="19"/>
                <c:pt idx="0">
                  <c:v>1</c:v>
                </c:pt>
                <c:pt idx="1">
                  <c:v>3</c:v>
                </c:pt>
                <c:pt idx="2">
                  <c:v>16</c:v>
                </c:pt>
                <c:pt idx="3">
                  <c:v>19</c:v>
                </c:pt>
                <c:pt idx="4">
                  <c:v>32</c:v>
                </c:pt>
                <c:pt idx="5">
                  <c:v>2</c:v>
                </c:pt>
                <c:pt idx="6">
                  <c:v>89</c:v>
                </c:pt>
                <c:pt idx="7">
                  <c:v>2</c:v>
                </c:pt>
                <c:pt idx="8">
                  <c:v>1</c:v>
                </c:pt>
                <c:pt idx="9">
                  <c:v>57</c:v>
                </c:pt>
                <c:pt idx="10">
                  <c:v>2</c:v>
                </c:pt>
                <c:pt idx="11">
                  <c:v>2</c:v>
                </c:pt>
                <c:pt idx="12">
                  <c:v>1</c:v>
                </c:pt>
                <c:pt idx="13">
                  <c:v>65</c:v>
                </c:pt>
                <c:pt idx="14">
                  <c:v>67</c:v>
                </c:pt>
                <c:pt idx="15">
                  <c:v>12</c:v>
                </c:pt>
                <c:pt idx="16">
                  <c:v>44</c:v>
                </c:pt>
                <c:pt idx="17">
                  <c:v>1</c:v>
                </c:pt>
                <c:pt idx="18">
                  <c:v>1</c:v>
                </c:pt>
              </c:numCache>
            </c:numRef>
          </c:val>
          <c:extLst>
            <c:ext xmlns:c16="http://schemas.microsoft.com/office/drawing/2014/chart" uri="{C3380CC4-5D6E-409C-BE32-E72D297353CC}">
              <c16:uniqueId val="{00000000-BD0F-467B-AE2F-BE37DBCF6ACC}"/>
            </c:ext>
          </c:extLst>
        </c:ser>
        <c:dLbls>
          <c:showLegendKey val="0"/>
          <c:showVal val="0"/>
          <c:showCatName val="0"/>
          <c:showSerName val="0"/>
          <c:showPercent val="0"/>
          <c:showBubbleSize val="0"/>
        </c:dLbls>
        <c:gapWidth val="219"/>
        <c:overlap val="-27"/>
        <c:axId val="489001759"/>
        <c:axId val="489003679"/>
      </c:barChart>
      <c:catAx>
        <c:axId val="489001759"/>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GB"/>
                  <a:t>Industries</a:t>
                </a:r>
              </a:p>
            </c:rich>
          </c:tx>
          <c:layout>
            <c:manualLayout>
              <c:xMode val="edge"/>
              <c:yMode val="edge"/>
              <c:x val="0.41761101450142279"/>
              <c:y val="0.95514410910264969"/>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89003679"/>
        <c:crosses val="autoZero"/>
        <c:auto val="1"/>
        <c:lblAlgn val="ctr"/>
        <c:lblOffset val="100"/>
        <c:noMultiLvlLbl val="0"/>
      </c:catAx>
      <c:valAx>
        <c:axId val="489003679"/>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GB"/>
                  <a:t>Number</a:t>
                </a:r>
                <a:r>
                  <a:rPr lang="en-GB" baseline="0"/>
                  <a:t> of Projects</a:t>
                </a:r>
                <a:endParaRPr lang="en-GB"/>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GB"/>
            </a:p>
          </c:txPr>
        </c:title>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89001759"/>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GB" smtClean="0"/>
              <a:t>21/07/2026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10"/>
          </p:nvPr>
        </p:nvSpPr>
        <p:spPr/>
        <p:txBody>
          <a:bodyPr/>
          <a:lstStyle/>
          <a:p>
            <a:fld id="{846CE7D5-CF57-46EF-B807-FDD0502418D4}" type="datetimeFigureOut">
              <a:rPr lang="en-GB" smtClean="0"/>
              <a:t>21/07/2026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GB" smtClean="0"/>
              <a:t>21/07/2026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p:cNvSpPr>
            <a:spLocks noGrp="1"/>
          </p:cNvSpPr>
          <p:nvPr>
            <p:ph type="dt" sz="half" idx="10"/>
          </p:nvPr>
        </p:nvSpPr>
        <p:spPr/>
        <p:txBody>
          <a:bodyPr/>
          <a:lstStyle/>
          <a:p>
            <a:fld id="{846CE7D5-CF57-46EF-B807-FDD0502418D4}" type="datetimeFigureOut">
              <a:rPr lang="en-GB" smtClean="0"/>
              <a:t>21/07/2026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p:cNvSpPr>
            <a:spLocks noGrp="1"/>
          </p:cNvSpPr>
          <p:nvPr>
            <p:ph type="dt" sz="half" idx="10"/>
          </p:nvPr>
        </p:nvSpPr>
        <p:spPr/>
        <p:txBody>
          <a:bodyPr/>
          <a:lstStyle/>
          <a:p>
            <a:fld id="{846CE7D5-CF57-46EF-B807-FDD0502418D4}" type="datetimeFigureOut">
              <a:rPr lang="en-GB" smtClean="0"/>
              <a:t>21/07/2026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GB" smtClean="0"/>
              <a:t>21/07/2026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GB" smtClean="0"/>
              <a:t>21/07/2026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21/07/2026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21/07/2026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10"/>
          </p:nvPr>
        </p:nvSpPr>
        <p:spPr/>
        <p:txBody>
          <a:bodyPr/>
          <a:lstStyle/>
          <a:p>
            <a:fld id="{846CE7D5-CF57-46EF-B807-FDD0502418D4}" type="datetimeFigureOut">
              <a:rPr lang="en-GB" smtClean="0"/>
              <a:t>21/07/2026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10"/>
          </p:nvPr>
        </p:nvSpPr>
        <p:spPr/>
        <p:txBody>
          <a:bodyPr/>
          <a:lstStyle/>
          <a:p>
            <a:fld id="{846CE7D5-CF57-46EF-B807-FDD0502418D4}" type="datetimeFigureOut">
              <a:rPr lang="en-GB" smtClean="0"/>
              <a:t>21/07/2026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479445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6607FB0-0FB2-41FD-B334-74C7B05B8CEE}"/>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21508BC1-7ABB-42C8-B268-3C6F4FD455DE}"/>
              </a:ext>
            </a:extLst>
          </p:cNvPr>
          <p:cNvSpPr/>
          <p:nvPr userDrawn="1"/>
        </p:nvSpPr>
        <p:spPr>
          <a:xfrm>
            <a:off x="200025" y="-1"/>
            <a:ext cx="11991975"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Picture Placeholder 8">
            <a:extLst>
              <a:ext uri="{FF2B5EF4-FFF2-40B4-BE49-F238E27FC236}">
                <a16:creationId xmlns:a16="http://schemas.microsoft.com/office/drawing/2014/main" id="{2D02598E-521E-41CD-B068-134834CFF4FF}"/>
              </a:ext>
            </a:extLst>
          </p:cNvPr>
          <p:cNvSpPr>
            <a:spLocks noGrp="1"/>
          </p:cNvSpPr>
          <p:nvPr>
            <p:ph type="pic" sz="quarter" idx="10"/>
          </p:nvPr>
        </p:nvSpPr>
        <p:spPr>
          <a:xfrm>
            <a:off x="571500" y="0"/>
            <a:ext cx="6034088" cy="6857999"/>
          </a:xfrm>
          <a:solidFill>
            <a:schemeClr val="bg1">
              <a:lumMod val="95000"/>
            </a:schemeClr>
          </a:solidFill>
        </p:spPr>
        <p:txBody>
          <a:bodyPr>
            <a:normAutofit/>
          </a:bodyPr>
          <a:lstStyle>
            <a:lvl1pPr marL="0" indent="0" algn="ctr">
              <a:buNone/>
              <a:defRPr sz="1800"/>
            </a:lvl1pPr>
          </a:lstStyle>
          <a:p>
            <a:r>
              <a:rPr lang="en-GB"/>
              <a:t>Click icon to add picture</a:t>
            </a:r>
            <a:endParaRPr lang="en-US"/>
          </a:p>
        </p:txBody>
      </p:sp>
      <p:sp>
        <p:nvSpPr>
          <p:cNvPr id="10" name="Rectangle 9">
            <a:extLst>
              <a:ext uri="{FF2B5EF4-FFF2-40B4-BE49-F238E27FC236}">
                <a16:creationId xmlns:a16="http://schemas.microsoft.com/office/drawing/2014/main" id="{F04A5F51-C7E6-44CC-ADF3-1C83AA35D0DC}"/>
              </a:ext>
            </a:extLst>
          </p:cNvPr>
          <p:cNvSpPr/>
          <p:nvPr userDrawn="1"/>
        </p:nvSpPr>
        <p:spPr>
          <a:xfrm>
            <a:off x="0" y="1"/>
            <a:ext cx="371475"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8B51C6-9166-4F67-995A-396809E6533C}"/>
              </a:ext>
            </a:extLst>
          </p:cNvPr>
          <p:cNvSpPr>
            <a:spLocks noGrp="1"/>
          </p:cNvSpPr>
          <p:nvPr>
            <p:ph type="ctrTitle"/>
          </p:nvPr>
        </p:nvSpPr>
        <p:spPr>
          <a:xfrm>
            <a:off x="6905625" y="1512889"/>
            <a:ext cx="4986338" cy="3262311"/>
          </a:xfrm>
        </p:spPr>
        <p:txBody>
          <a:bodyPr anchor="b"/>
          <a:lstStyle>
            <a:lvl1pPr algn="l">
              <a:defRPr sz="6000">
                <a:solidFill>
                  <a:schemeClr val="bg1"/>
                </a:solidFill>
              </a:defRPr>
            </a:lvl1pPr>
          </a:lstStyle>
          <a:p>
            <a:r>
              <a:rPr lang="en-GB"/>
              <a:t>Click to edit Master title style</a:t>
            </a:r>
            <a:endParaRPr lang="en-US"/>
          </a:p>
        </p:txBody>
      </p:sp>
      <p:sp>
        <p:nvSpPr>
          <p:cNvPr id="3" name="Subtitle 2">
            <a:extLst>
              <a:ext uri="{FF2B5EF4-FFF2-40B4-BE49-F238E27FC236}">
                <a16:creationId xmlns:a16="http://schemas.microsoft.com/office/drawing/2014/main" id="{A951C9A4-8764-4CB3-AC26-C957C0E84BCD}"/>
              </a:ext>
            </a:extLst>
          </p:cNvPr>
          <p:cNvSpPr>
            <a:spLocks noGrp="1"/>
          </p:cNvSpPr>
          <p:nvPr>
            <p:ph type="subTitle" idx="1"/>
          </p:nvPr>
        </p:nvSpPr>
        <p:spPr>
          <a:xfrm>
            <a:off x="6905625" y="4927600"/>
            <a:ext cx="4986338" cy="976311"/>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Tree>
    <p:extLst>
      <p:ext uri="{BB962C8B-B14F-4D97-AF65-F5344CB8AC3E}">
        <p14:creationId xmlns:p14="http://schemas.microsoft.com/office/powerpoint/2010/main" val="35169727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4_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D497887-B1EF-4184-95F4-276A92D54B8F}"/>
              </a:ext>
            </a:extLst>
          </p:cNvPr>
          <p:cNvSpPr/>
          <p:nvPr userDrawn="1"/>
        </p:nvSpPr>
        <p:spPr>
          <a:xfrm>
            <a:off x="0" y="0"/>
            <a:ext cx="12192000" cy="6381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itle 1">
            <a:extLst>
              <a:ext uri="{FF2B5EF4-FFF2-40B4-BE49-F238E27FC236}">
                <a16:creationId xmlns:a16="http://schemas.microsoft.com/office/drawing/2014/main" id="{4C2FFEDF-1F62-45E5-8000-9689D9DFC4D1}"/>
              </a:ext>
            </a:extLst>
          </p:cNvPr>
          <p:cNvSpPr>
            <a:spLocks noGrp="1"/>
          </p:cNvSpPr>
          <p:nvPr>
            <p:ph type="title"/>
          </p:nvPr>
        </p:nvSpPr>
        <p:spPr>
          <a:xfrm>
            <a:off x="876300" y="4406207"/>
            <a:ext cx="10439400" cy="1175444"/>
          </a:xfrm>
        </p:spPr>
        <p:txBody>
          <a:bodyPr anchor="ctr"/>
          <a:lstStyle>
            <a:lvl1pPr algn="ctr">
              <a:defRPr sz="6000">
                <a:solidFill>
                  <a:schemeClr val="accent1"/>
                </a:solidFill>
              </a:defRPr>
            </a:lvl1pPr>
          </a:lstStyle>
          <a:p>
            <a:r>
              <a:rPr lang="en-GB" noProof="0"/>
              <a:t>Click to edit Master title style</a:t>
            </a:r>
            <a:endParaRPr lang="en-US" noProof="0"/>
          </a:p>
        </p:txBody>
      </p:sp>
      <p:sp>
        <p:nvSpPr>
          <p:cNvPr id="6" name="Slide Number Placeholder 5">
            <a:extLst>
              <a:ext uri="{FF2B5EF4-FFF2-40B4-BE49-F238E27FC236}">
                <a16:creationId xmlns:a16="http://schemas.microsoft.com/office/drawing/2014/main" id="{A8D10129-98D8-456D-9925-F02A38DE1423}"/>
              </a:ext>
            </a:extLst>
          </p:cNvPr>
          <p:cNvSpPr>
            <a:spLocks noGrp="1"/>
          </p:cNvSpPr>
          <p:nvPr>
            <p:ph type="sldNum" sz="quarter" idx="12"/>
          </p:nvPr>
        </p:nvSpPr>
        <p:spPr/>
        <p:txBody>
          <a:bodyPr/>
          <a:lstStyle/>
          <a:p>
            <a:fld id="{03DC2DEF-D2FE-4B45-ABA4-9F153FD1C98A}" type="slidenum">
              <a:rPr lang="en-US" noProof="0" smtClean="0"/>
              <a:t>‹#›</a:t>
            </a:fld>
            <a:endParaRPr lang="en-US" noProof="0"/>
          </a:p>
        </p:txBody>
      </p:sp>
      <p:sp>
        <p:nvSpPr>
          <p:cNvPr id="16" name="Rectangle 15">
            <a:extLst>
              <a:ext uri="{FF2B5EF4-FFF2-40B4-BE49-F238E27FC236}">
                <a16:creationId xmlns:a16="http://schemas.microsoft.com/office/drawing/2014/main" id="{A73E3CFC-9652-4E07-82D7-0EC3304CAA1F}"/>
              </a:ext>
            </a:extLst>
          </p:cNvPr>
          <p:cNvSpPr/>
          <p:nvPr userDrawn="1"/>
        </p:nvSpPr>
        <p:spPr>
          <a:xfrm>
            <a:off x="0" y="0"/>
            <a:ext cx="12191999" cy="284797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8" name="Picture Placeholder 6">
            <a:extLst>
              <a:ext uri="{FF2B5EF4-FFF2-40B4-BE49-F238E27FC236}">
                <a16:creationId xmlns:a16="http://schemas.microsoft.com/office/drawing/2014/main" id="{230D70C6-13FD-45D4-8FB6-26C56B8FF2D4}"/>
              </a:ext>
            </a:extLst>
          </p:cNvPr>
          <p:cNvSpPr>
            <a:spLocks noGrp="1"/>
          </p:cNvSpPr>
          <p:nvPr>
            <p:ph type="pic" sz="quarter" idx="13"/>
          </p:nvPr>
        </p:nvSpPr>
        <p:spPr>
          <a:xfrm>
            <a:off x="371476" y="260350"/>
            <a:ext cx="11520488" cy="3657599"/>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GB" noProof="0"/>
              <a:t>Click icon to add picture</a:t>
            </a:r>
            <a:endParaRPr lang="en-US" noProof="0"/>
          </a:p>
        </p:txBody>
      </p:sp>
      <p:sp>
        <p:nvSpPr>
          <p:cNvPr id="3" name="Rectangle 2">
            <a:extLst>
              <a:ext uri="{FF2B5EF4-FFF2-40B4-BE49-F238E27FC236}">
                <a16:creationId xmlns:a16="http://schemas.microsoft.com/office/drawing/2014/main" id="{E10ED78A-2A17-41C4-9030-D406C56DDF4A}"/>
              </a:ext>
            </a:extLst>
          </p:cNvPr>
          <p:cNvSpPr/>
          <p:nvPr userDrawn="1"/>
        </p:nvSpPr>
        <p:spPr>
          <a:xfrm>
            <a:off x="5795961" y="3914082"/>
            <a:ext cx="600075" cy="29189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Tree>
    <p:extLst>
      <p:ext uri="{BB962C8B-B14F-4D97-AF65-F5344CB8AC3E}">
        <p14:creationId xmlns:p14="http://schemas.microsoft.com/office/powerpoint/2010/main" val="15718671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GB" smtClean="0"/>
              <a:t>21/07/2026</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GB" smtClean="0"/>
              <a:t>‹#›</a:t>
            </a:fld>
            <a:endParaRPr lang="en-GB"/>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chart" Target="../charts/chart1.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chart" Target="../charts/chart2.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3.sv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3.sv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00357A"/>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D71C9CD-CAE8-4AC8-936D-333769D479E5}"/>
              </a:ext>
            </a:extLst>
          </p:cNvPr>
          <p:cNvSpPr>
            <a:spLocks noGrp="1"/>
          </p:cNvSpPr>
          <p:nvPr>
            <p:ph type="ctrTitle"/>
          </p:nvPr>
        </p:nvSpPr>
        <p:spPr>
          <a:xfrm>
            <a:off x="5443177" y="1441773"/>
            <a:ext cx="6495743" cy="2603090"/>
          </a:xfrm>
        </p:spPr>
        <p:txBody>
          <a:bodyPr>
            <a:normAutofit fontScale="90000"/>
          </a:bodyPr>
          <a:lstStyle/>
          <a:p>
            <a:pPr>
              <a:lnSpc>
                <a:spcPct val="100000"/>
              </a:lnSpc>
            </a:pPr>
            <a:r>
              <a:rPr lang="en-GB" b="1" err="1"/>
              <a:t>EnterpriseGoose</a:t>
            </a:r>
            <a:r>
              <a:rPr lang="en-GB" b="1"/>
              <a:t> Business Expansion Analysis</a:t>
            </a:r>
            <a:br>
              <a:rPr lang="en-GB" sz="4400"/>
            </a:br>
            <a:br>
              <a:rPr lang="en-GB" sz="4400"/>
            </a:br>
            <a:r>
              <a:rPr lang="en-GB" sz="2200"/>
              <a:t>Data driven insights and 12-month growth recommendations</a:t>
            </a:r>
            <a:endParaRPr lang="en-US"/>
          </a:p>
        </p:txBody>
      </p:sp>
      <p:sp>
        <p:nvSpPr>
          <p:cNvPr id="4" name="Subtitle 3">
            <a:extLst>
              <a:ext uri="{FF2B5EF4-FFF2-40B4-BE49-F238E27FC236}">
                <a16:creationId xmlns:a16="http://schemas.microsoft.com/office/drawing/2014/main" id="{C6D24F99-E026-485A-96CD-AEC98137262A}"/>
              </a:ext>
            </a:extLst>
          </p:cNvPr>
          <p:cNvSpPr>
            <a:spLocks noGrp="1"/>
          </p:cNvSpPr>
          <p:nvPr>
            <p:ph type="subTitle" idx="1"/>
          </p:nvPr>
        </p:nvSpPr>
        <p:spPr>
          <a:xfrm>
            <a:off x="137651" y="5789742"/>
            <a:ext cx="4355690" cy="601226"/>
          </a:xfrm>
        </p:spPr>
        <p:txBody>
          <a:bodyPr/>
          <a:lstStyle/>
          <a:p>
            <a:r>
              <a:rPr lang="en-US" dirty="0"/>
              <a:t>Zakariye Mohamed</a:t>
            </a:r>
          </a:p>
        </p:txBody>
      </p:sp>
      <p:pic>
        <p:nvPicPr>
          <p:cNvPr id="7" name="Picture 6">
            <a:extLst>
              <a:ext uri="{FF2B5EF4-FFF2-40B4-BE49-F238E27FC236}">
                <a16:creationId xmlns:a16="http://schemas.microsoft.com/office/drawing/2014/main" id="{36D41569-D0EB-C371-515A-714BC80CEEF4}"/>
              </a:ext>
            </a:extLst>
          </p:cNvPr>
          <p:cNvPicPr>
            <a:picLocks noChangeAspect="1"/>
          </p:cNvPicPr>
          <p:nvPr/>
        </p:nvPicPr>
        <p:blipFill>
          <a:blip r:embed="rId2"/>
          <a:srcRect r="839" b="-373"/>
          <a:stretch>
            <a:fillRect/>
          </a:stretch>
        </p:blipFill>
        <p:spPr>
          <a:xfrm>
            <a:off x="0" y="223268"/>
            <a:ext cx="4986338" cy="2802625"/>
          </a:xfrm>
          <a:prstGeom prst="rect">
            <a:avLst/>
          </a:prstGeom>
        </p:spPr>
      </p:pic>
      <p:sp>
        <p:nvSpPr>
          <p:cNvPr id="8" name="Subtitle 3">
            <a:extLst>
              <a:ext uri="{FF2B5EF4-FFF2-40B4-BE49-F238E27FC236}">
                <a16:creationId xmlns:a16="http://schemas.microsoft.com/office/drawing/2014/main" id="{60C5A3F1-5801-3F49-3D26-341C81FE7140}"/>
              </a:ext>
            </a:extLst>
          </p:cNvPr>
          <p:cNvSpPr txBox="1">
            <a:spLocks/>
          </p:cNvSpPr>
          <p:nvPr/>
        </p:nvSpPr>
        <p:spPr>
          <a:xfrm>
            <a:off x="140209" y="6239533"/>
            <a:ext cx="2782529" cy="537317"/>
          </a:xfrm>
          <a:prstGeom prst="rect">
            <a:avLst/>
          </a:prstGeom>
        </p:spPr>
        <p:txBody>
          <a:bodyPr vert="horz" lIns="91440" tIns="45720" rIns="91440" bIns="45720" rtlCol="0" anchor="t">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bg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t>03/06/2026</a:t>
            </a:r>
          </a:p>
        </p:txBody>
      </p:sp>
    </p:spTree>
    <p:extLst>
      <p:ext uri="{BB962C8B-B14F-4D97-AF65-F5344CB8AC3E}">
        <p14:creationId xmlns:p14="http://schemas.microsoft.com/office/powerpoint/2010/main" val="149549653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357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9B9C37-7BBB-E31B-BB7A-2A9BB0E50160}"/>
              </a:ext>
            </a:extLst>
          </p:cNvPr>
          <p:cNvSpPr>
            <a:spLocks noGrp="1"/>
          </p:cNvSpPr>
          <p:nvPr>
            <p:ph type="title"/>
          </p:nvPr>
        </p:nvSpPr>
        <p:spPr>
          <a:xfrm>
            <a:off x="480164" y="0"/>
            <a:ext cx="3932237" cy="6858000"/>
          </a:xfrm>
        </p:spPr>
        <p:txBody>
          <a:bodyPr vert="horz" lIns="91440" tIns="45720" rIns="91440" bIns="45720" rtlCol="0" anchor="ctr">
            <a:normAutofit/>
          </a:bodyPr>
          <a:lstStyle/>
          <a:p>
            <a:r>
              <a:rPr lang="en-GB" sz="4400" b="1">
                <a:solidFill>
                  <a:schemeClr val="bg1"/>
                </a:solidFill>
              </a:rPr>
              <a:t>Contents</a:t>
            </a:r>
          </a:p>
        </p:txBody>
      </p:sp>
      <p:sp>
        <p:nvSpPr>
          <p:cNvPr id="4" name="Text Placeholder 3">
            <a:extLst>
              <a:ext uri="{FF2B5EF4-FFF2-40B4-BE49-F238E27FC236}">
                <a16:creationId xmlns:a16="http://schemas.microsoft.com/office/drawing/2014/main" id="{4A461EB1-8DE8-97FE-262B-017CEE215A1B}"/>
              </a:ext>
            </a:extLst>
          </p:cNvPr>
          <p:cNvSpPr>
            <a:spLocks noGrp="1"/>
          </p:cNvSpPr>
          <p:nvPr>
            <p:ph type="body" sz="half" idx="2"/>
          </p:nvPr>
        </p:nvSpPr>
        <p:spPr>
          <a:xfrm>
            <a:off x="5084985" y="0"/>
            <a:ext cx="7107014" cy="6857999"/>
          </a:xfrm>
        </p:spPr>
        <p:txBody>
          <a:bodyPr vert="horz" lIns="91440" tIns="45720" rIns="91440" bIns="45720" rtlCol="0" anchor="t">
            <a:normAutofit/>
          </a:bodyPr>
          <a:lstStyle/>
          <a:p>
            <a:pPr marL="342900" indent="-342900">
              <a:lnSpc>
                <a:spcPct val="100000"/>
              </a:lnSpc>
              <a:buFont typeface="Arial" panose="020B0604020202020204" pitchFamily="34" charset="0"/>
              <a:buChar char="•"/>
            </a:pPr>
            <a:endParaRPr lang="en-GB" sz="3200">
              <a:solidFill>
                <a:srgbClr val="FFFFFF"/>
              </a:solidFill>
            </a:endParaRPr>
          </a:p>
          <a:p>
            <a:pPr marL="342900" indent="-342900">
              <a:lnSpc>
                <a:spcPct val="100000"/>
              </a:lnSpc>
              <a:buFont typeface="Arial" panose="020B0604020202020204" pitchFamily="34" charset="0"/>
              <a:buChar char="•"/>
            </a:pPr>
            <a:endParaRPr lang="en-GB" sz="2800">
              <a:solidFill>
                <a:srgbClr val="FFFFFF"/>
              </a:solidFill>
            </a:endParaRPr>
          </a:p>
          <a:p>
            <a:pPr marL="342900" indent="-342900">
              <a:lnSpc>
                <a:spcPct val="100000"/>
              </a:lnSpc>
              <a:buChar char="•"/>
            </a:pPr>
            <a:endParaRPr lang="en-GB" sz="2800">
              <a:solidFill>
                <a:srgbClr val="FFFFFF"/>
              </a:solidFill>
            </a:endParaRPr>
          </a:p>
          <a:p>
            <a:pPr marL="342900" indent="-342900">
              <a:lnSpc>
                <a:spcPct val="100000"/>
              </a:lnSpc>
              <a:buChar char="•"/>
            </a:pPr>
            <a:r>
              <a:rPr lang="en-GB" sz="2800">
                <a:solidFill>
                  <a:srgbClr val="FFFFFF"/>
                </a:solidFill>
              </a:rPr>
              <a:t>Introduction to </a:t>
            </a:r>
            <a:r>
              <a:rPr lang="en-GB" sz="2800" err="1">
                <a:solidFill>
                  <a:srgbClr val="FFFFFF"/>
                </a:solidFill>
              </a:rPr>
              <a:t>EnterpriseGoose</a:t>
            </a:r>
            <a:endParaRPr lang="en-US" sz="2800"/>
          </a:p>
          <a:p>
            <a:pPr marL="342900" indent="-342900">
              <a:lnSpc>
                <a:spcPct val="100000"/>
              </a:lnSpc>
              <a:buFont typeface="Arial" panose="020B0604020202020204" pitchFamily="34" charset="0"/>
              <a:buChar char="•"/>
            </a:pPr>
            <a:r>
              <a:rPr lang="en-GB" sz="2800">
                <a:solidFill>
                  <a:srgbClr val="FFFFFF"/>
                </a:solidFill>
              </a:rPr>
              <a:t>Tools &amp; Data Security</a:t>
            </a:r>
          </a:p>
          <a:p>
            <a:pPr marL="342900" indent="-342900">
              <a:lnSpc>
                <a:spcPct val="100000"/>
              </a:lnSpc>
              <a:buFont typeface="Arial" panose="020B0604020202020204" pitchFamily="34" charset="0"/>
              <a:buChar char="•"/>
            </a:pPr>
            <a:r>
              <a:rPr lang="en-GB" sz="2800">
                <a:solidFill>
                  <a:srgbClr val="FFFFFF"/>
                </a:solidFill>
              </a:rPr>
              <a:t>Analysis Areas</a:t>
            </a:r>
          </a:p>
          <a:p>
            <a:pPr marL="342900" indent="-342900">
              <a:lnSpc>
                <a:spcPct val="100000"/>
              </a:lnSpc>
              <a:buFont typeface="Arial" panose="020B0604020202020204" pitchFamily="34" charset="0"/>
              <a:buChar char="•"/>
            </a:pPr>
            <a:r>
              <a:rPr lang="en-GB" sz="2800">
                <a:solidFill>
                  <a:srgbClr val="FFFFFF"/>
                </a:solidFill>
              </a:rPr>
              <a:t>Key Findings</a:t>
            </a:r>
          </a:p>
          <a:p>
            <a:pPr marL="342900" indent="-342900">
              <a:lnSpc>
                <a:spcPct val="100000"/>
              </a:lnSpc>
              <a:buFont typeface="Arial" panose="020B0604020202020204" pitchFamily="34" charset="0"/>
              <a:buChar char="•"/>
            </a:pPr>
            <a:r>
              <a:rPr lang="en-GB" sz="2800">
                <a:solidFill>
                  <a:srgbClr val="FFFFFF"/>
                </a:solidFill>
              </a:rPr>
              <a:t>Recommendations</a:t>
            </a:r>
          </a:p>
          <a:p>
            <a:pPr marL="342900" indent="-342900">
              <a:lnSpc>
                <a:spcPct val="100000"/>
              </a:lnSpc>
              <a:buFont typeface="Arial" panose="020B0604020202020204" pitchFamily="34" charset="0"/>
              <a:buChar char="•"/>
            </a:pPr>
            <a:r>
              <a:rPr lang="en-GB" sz="2800">
                <a:solidFill>
                  <a:srgbClr val="FFFFFF"/>
                </a:solidFill>
              </a:rPr>
              <a:t>Q&amp;A</a:t>
            </a:r>
          </a:p>
          <a:p>
            <a:endParaRPr lang="en-GB">
              <a:solidFill>
                <a:srgbClr val="FFFFFF"/>
              </a:solidFill>
            </a:endParaRPr>
          </a:p>
        </p:txBody>
      </p:sp>
      <p:pic>
        <p:nvPicPr>
          <p:cNvPr id="6" name="Picture 5" descr="A white line drawing of a duck&#10;&#10;AI-generated content may be incorrect.">
            <a:extLst>
              <a:ext uri="{FF2B5EF4-FFF2-40B4-BE49-F238E27FC236}">
                <a16:creationId xmlns:a16="http://schemas.microsoft.com/office/drawing/2014/main" id="{F8E10821-15F6-04D1-A83C-F96704AB0178}"/>
              </a:ext>
            </a:extLst>
          </p:cNvPr>
          <p:cNvPicPr>
            <a:picLocks noChangeAspect="1"/>
          </p:cNvPicPr>
          <p:nvPr/>
        </p:nvPicPr>
        <p:blipFill>
          <a:blip r:embed="rId2"/>
          <a:srcRect l="16269" t="50000" r="60000"/>
          <a:stretch>
            <a:fillRect/>
          </a:stretch>
        </p:blipFill>
        <p:spPr>
          <a:xfrm flipH="1">
            <a:off x="9584707" y="4010025"/>
            <a:ext cx="2441521" cy="2847975"/>
          </a:xfrm>
          <a:prstGeom prst="rect">
            <a:avLst/>
          </a:prstGeom>
        </p:spPr>
      </p:pic>
    </p:spTree>
    <p:extLst>
      <p:ext uri="{BB962C8B-B14F-4D97-AF65-F5344CB8AC3E}">
        <p14:creationId xmlns:p14="http://schemas.microsoft.com/office/powerpoint/2010/main" val="881782488"/>
      </p:ext>
    </p:extLst>
  </p:cSld>
  <p:clrMapOvr>
    <a:masterClrMapping/>
  </p:clrMapOvr>
  <p:transition spd="med">
    <p:pull/>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C3896A03-3945-419A-B66B-4EE266EDD1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 y="0"/>
            <a:ext cx="4654286" cy="685800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1">
            <a:extLst>
              <a:ext uri="{FF2B5EF4-FFF2-40B4-BE49-F238E27FC236}">
                <a16:creationId xmlns:a16="http://schemas.microsoft.com/office/drawing/2014/main" id="{4E11D480-36B3-11B3-8541-BCD0FDC7E028}"/>
              </a:ext>
            </a:extLst>
          </p:cNvPr>
          <p:cNvSpPr>
            <a:spLocks noGrp="1" noChangeArrowheads="1"/>
          </p:cNvSpPr>
          <p:nvPr>
            <p:ph type="ctrTitle"/>
          </p:nvPr>
        </p:nvSpPr>
        <p:spPr bwMode="auto">
          <a:xfrm>
            <a:off x="-1756" y="1508"/>
            <a:ext cx="4654285" cy="6852523"/>
          </a:xfrm>
          <a:prstGeom prst="rect">
            <a:avLst/>
          </a:prstGeom>
          <a:solidFill>
            <a:srgbClr val="00357A"/>
          </a:solidFill>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t" anchorCtr="0" compatLnSpc="1">
            <a:prstTxWarp prst="textNoShape">
              <a:avLst/>
            </a:prstTxWarp>
            <a:normAutofit/>
          </a:bodyPr>
          <a:lstStyle/>
          <a:p>
            <a:pPr marR="0" lvl="0" algn="l" defTabSz="914400" rtl="0" eaLnBrk="0" fontAlgn="base" latinLnBrk="0" hangingPunct="0">
              <a:spcBef>
                <a:spcPct val="0"/>
              </a:spcBef>
              <a:spcAft>
                <a:spcPct val="0"/>
              </a:spcAft>
              <a:buClrTx/>
              <a:buSzTx/>
              <a:tabLst/>
            </a:pPr>
            <a:br>
              <a:rPr lang="en-US" altLang="en-US" sz="2400">
                <a:solidFill>
                  <a:schemeClr val="bg1"/>
                </a:solidFill>
                <a:latin typeface="Arial" panose="020B0604020202020204" pitchFamily="34" charset="0"/>
              </a:rPr>
            </a:br>
            <a:endParaRPr kumimoji="0" lang="en-US" altLang="en-US" sz="2400" b="0" i="0" u="none" strike="noStrike" cap="none" normalizeH="0" baseline="0">
              <a:ln>
                <a:noFill/>
              </a:ln>
              <a:solidFill>
                <a:schemeClr val="bg1"/>
              </a:solidFill>
              <a:effectLst/>
              <a:latin typeface="Arial" panose="020B0604020202020204" pitchFamily="34" charset="0"/>
            </a:endParaRPr>
          </a:p>
        </p:txBody>
      </p:sp>
      <p:sp>
        <p:nvSpPr>
          <p:cNvPr id="24" name="Rectangle 23">
            <a:extLst>
              <a:ext uri="{FF2B5EF4-FFF2-40B4-BE49-F238E27FC236}">
                <a16:creationId xmlns:a16="http://schemas.microsoft.com/office/drawing/2014/main" id="{B34F5AD2-EDBD-4BBD-A55C-EAFFD0C709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2535" y="0"/>
            <a:ext cx="7539455" cy="68580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6832F003-FCA6-4CFB-A2EA-308F3AA257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39973" y="4549143"/>
            <a:ext cx="457200" cy="457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BAE302A-9E4B-93F4-CADC-5DBA95EAC2C4}"/>
              </a:ext>
            </a:extLst>
          </p:cNvPr>
          <p:cNvSpPr txBox="1">
            <a:spLocks/>
          </p:cNvSpPr>
          <p:nvPr/>
        </p:nvSpPr>
        <p:spPr>
          <a:xfrm>
            <a:off x="-1" y="107462"/>
            <a:ext cx="4652535" cy="973746"/>
          </a:xfrm>
          <a:prstGeom prst="rect">
            <a:avLst/>
          </a:prstGeom>
          <a:solidFill>
            <a:srgbClr val="00357A"/>
          </a:solidFill>
        </p:spPr>
        <p:txBody>
          <a:bodyPr vert="horz" lIns="91440" tIns="45720" rIns="91440" bIns="45720" rtlCol="0" anchor="b">
            <a:normAutofit fontScale="6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GB">
                <a:solidFill>
                  <a:schemeClr val="bg1"/>
                </a:solidFill>
              </a:rPr>
              <a:t>EnterpriseGoose Overview</a:t>
            </a:r>
          </a:p>
        </p:txBody>
      </p:sp>
      <p:pic>
        <p:nvPicPr>
          <p:cNvPr id="3" name="Picture 2" descr="A blue and white sign with a duck&#10;&#10;AI-generated content may be incorrect.">
            <a:extLst>
              <a:ext uri="{FF2B5EF4-FFF2-40B4-BE49-F238E27FC236}">
                <a16:creationId xmlns:a16="http://schemas.microsoft.com/office/drawing/2014/main" id="{8718B43E-9B40-2033-5A1C-90A2D03D61A5}"/>
              </a:ext>
            </a:extLst>
          </p:cNvPr>
          <p:cNvPicPr>
            <a:picLocks noChangeAspect="1"/>
          </p:cNvPicPr>
          <p:nvPr/>
        </p:nvPicPr>
        <p:blipFill>
          <a:blip r:embed="rId2"/>
          <a:stretch>
            <a:fillRect/>
          </a:stretch>
        </p:blipFill>
        <p:spPr>
          <a:xfrm>
            <a:off x="5678465" y="730684"/>
            <a:ext cx="5490576" cy="3089754"/>
          </a:xfrm>
          <a:prstGeom prst="rect">
            <a:avLst/>
          </a:prstGeom>
        </p:spPr>
      </p:pic>
      <p:sp>
        <p:nvSpPr>
          <p:cNvPr id="4" name="Content Placeholder 2">
            <a:extLst>
              <a:ext uri="{FF2B5EF4-FFF2-40B4-BE49-F238E27FC236}">
                <a16:creationId xmlns:a16="http://schemas.microsoft.com/office/drawing/2014/main" id="{04C750BD-D181-0B07-DBD5-FEA481EE077E}"/>
              </a:ext>
            </a:extLst>
          </p:cNvPr>
          <p:cNvSpPr txBox="1">
            <a:spLocks/>
          </p:cNvSpPr>
          <p:nvPr/>
        </p:nvSpPr>
        <p:spPr>
          <a:xfrm>
            <a:off x="316000" y="1446212"/>
            <a:ext cx="3635477" cy="4943013"/>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r>
              <a:rPr lang="en-GB" sz="2000">
                <a:solidFill>
                  <a:schemeClr val="bg1"/>
                </a:solidFill>
              </a:rPr>
              <a:t>Founded August 2021, Dublin</a:t>
            </a:r>
          </a:p>
          <a:p>
            <a:pPr marL="342900" indent="-342900" algn="l">
              <a:buFont typeface="Arial" panose="020B0604020202020204" pitchFamily="34" charset="0"/>
              <a:buChar char="•"/>
            </a:pPr>
            <a:r>
              <a:rPr lang="en-GB" sz="2000">
                <a:solidFill>
                  <a:schemeClr val="bg1"/>
                </a:solidFill>
              </a:rPr>
              <a:t>Management Consultancy Firm: Expanded in EMEA (Europe, Middle East &amp; Africa)</a:t>
            </a:r>
          </a:p>
          <a:p>
            <a:pPr marL="342900" indent="-342900" algn="l">
              <a:buFont typeface="Arial" panose="020B0604020202020204" pitchFamily="34" charset="0"/>
              <a:buChar char="•"/>
            </a:pPr>
            <a:r>
              <a:rPr lang="en-GB" sz="2000">
                <a:solidFill>
                  <a:schemeClr val="bg1"/>
                </a:solidFill>
              </a:rPr>
              <a:t>Providing Services: </a:t>
            </a:r>
          </a:p>
          <a:p>
            <a:pPr marL="800100" lvl="1" indent="-342900" algn="l">
              <a:buFont typeface="Courier New" panose="02070309020205020404" pitchFamily="49" charset="0"/>
              <a:buChar char="o"/>
            </a:pPr>
            <a:r>
              <a:rPr lang="en-GB">
                <a:solidFill>
                  <a:schemeClr val="bg1"/>
                </a:solidFill>
              </a:rPr>
              <a:t>Strategy</a:t>
            </a:r>
          </a:p>
          <a:p>
            <a:pPr marL="800100" lvl="1" indent="-342900" algn="l">
              <a:buFont typeface="Courier New" panose="02070309020205020404" pitchFamily="49" charset="0"/>
              <a:buChar char="o"/>
            </a:pPr>
            <a:r>
              <a:rPr lang="en-GB">
                <a:solidFill>
                  <a:schemeClr val="bg1"/>
                </a:solidFill>
              </a:rPr>
              <a:t>Operations</a:t>
            </a:r>
          </a:p>
          <a:p>
            <a:pPr marL="800100" lvl="1" indent="-342900" algn="l">
              <a:buFont typeface="Courier New" panose="02070309020205020404" pitchFamily="49" charset="0"/>
              <a:buChar char="o"/>
            </a:pPr>
            <a:r>
              <a:rPr lang="en-GB">
                <a:solidFill>
                  <a:schemeClr val="bg1"/>
                </a:solidFill>
              </a:rPr>
              <a:t>Marketing</a:t>
            </a:r>
          </a:p>
          <a:p>
            <a:pPr marL="800100" lvl="1" indent="-342900" algn="l">
              <a:buFont typeface="Courier New" panose="02070309020205020404" pitchFamily="49" charset="0"/>
              <a:buChar char="o"/>
            </a:pPr>
            <a:r>
              <a:rPr lang="en-GB">
                <a:solidFill>
                  <a:schemeClr val="bg1"/>
                </a:solidFill>
              </a:rPr>
              <a:t>IT Infrastructure</a:t>
            </a:r>
          </a:p>
          <a:p>
            <a:pPr marL="342900" indent="-342900" algn="l">
              <a:buFont typeface="Arial" panose="020B0604020202020204" pitchFamily="34" charset="0"/>
              <a:buChar char="•"/>
            </a:pPr>
            <a:r>
              <a:rPr lang="en-GB" sz="2000">
                <a:solidFill>
                  <a:schemeClr val="bg1"/>
                </a:solidFill>
              </a:rPr>
              <a:t>What they do:</a:t>
            </a:r>
          </a:p>
          <a:p>
            <a:pPr algn="l"/>
            <a:r>
              <a:rPr lang="en-GB" sz="2000">
                <a:solidFill>
                  <a:schemeClr val="bg1"/>
                </a:solidFill>
              </a:rPr>
              <a:t>Hire salaried consultants, who they contract out to clients for an hourly fee</a:t>
            </a:r>
          </a:p>
        </p:txBody>
      </p:sp>
    </p:spTree>
    <p:extLst>
      <p:ext uri="{BB962C8B-B14F-4D97-AF65-F5344CB8AC3E}">
        <p14:creationId xmlns:p14="http://schemas.microsoft.com/office/powerpoint/2010/main" val="2615313972"/>
      </p:ext>
    </p:extLst>
  </p:cSld>
  <p:clrMapOvr>
    <a:masterClrMapping/>
  </p:clrMapOvr>
  <p:transition spd="med">
    <p:pull/>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2D483E-63B9-BD14-96B4-EC738D3B348A}"/>
              </a:ext>
            </a:extLst>
          </p:cNvPr>
          <p:cNvSpPr>
            <a:spLocks noGrp="1"/>
          </p:cNvSpPr>
          <p:nvPr>
            <p:ph type="ctrTitle"/>
          </p:nvPr>
        </p:nvSpPr>
        <p:spPr>
          <a:xfrm>
            <a:off x="1524000" y="227561"/>
            <a:ext cx="9144000" cy="824636"/>
          </a:xfrm>
        </p:spPr>
        <p:txBody>
          <a:bodyPr>
            <a:normAutofit fontScale="90000"/>
          </a:bodyPr>
          <a:lstStyle/>
          <a:p>
            <a:r>
              <a:rPr lang="en-GB"/>
              <a:t>Tools Used</a:t>
            </a:r>
          </a:p>
        </p:txBody>
      </p:sp>
      <p:sp>
        <p:nvSpPr>
          <p:cNvPr id="3" name="Subtitle 2">
            <a:extLst>
              <a:ext uri="{FF2B5EF4-FFF2-40B4-BE49-F238E27FC236}">
                <a16:creationId xmlns:a16="http://schemas.microsoft.com/office/drawing/2014/main" id="{7DAD05F5-026C-4C5D-7749-BD2EC0E6126F}"/>
              </a:ext>
            </a:extLst>
          </p:cNvPr>
          <p:cNvSpPr>
            <a:spLocks noGrp="1"/>
          </p:cNvSpPr>
          <p:nvPr>
            <p:ph type="subTitle" idx="1"/>
          </p:nvPr>
        </p:nvSpPr>
        <p:spPr>
          <a:xfrm>
            <a:off x="659757" y="1238491"/>
            <a:ext cx="10706582" cy="5208608"/>
          </a:xfrm>
        </p:spPr>
        <p:txBody>
          <a:bodyPr vert="horz" lIns="91440" tIns="45720" rIns="91440" bIns="45720" rtlCol="0" anchor="t">
            <a:normAutofit/>
          </a:bodyPr>
          <a:lstStyle/>
          <a:p>
            <a:endParaRPr lang="en-GB"/>
          </a:p>
          <a:p>
            <a:pPr algn="l"/>
            <a:r>
              <a:rPr lang="en-GB"/>
              <a:t>Project management:</a:t>
            </a:r>
            <a:r>
              <a:rPr lang="en-GB" i="1"/>
              <a:t> GitHub Projects</a:t>
            </a:r>
          </a:p>
          <a:p>
            <a:pPr algn="l"/>
            <a:r>
              <a:rPr lang="en-GB"/>
              <a:t>Analysis:</a:t>
            </a:r>
            <a:r>
              <a:rPr lang="en-GB" i="1"/>
              <a:t> Google Docs</a:t>
            </a:r>
          </a:p>
          <a:p>
            <a:pPr algn="l"/>
            <a:r>
              <a:rPr lang="en-GB"/>
              <a:t>Data Cleaning: </a:t>
            </a:r>
            <a:r>
              <a:rPr lang="en-GB" i="1"/>
              <a:t>Excel</a:t>
            </a:r>
          </a:p>
          <a:p>
            <a:pPr marL="342900" indent="-342900" algn="l">
              <a:buChar char="•"/>
            </a:pPr>
            <a:r>
              <a:rPr lang="en-GB"/>
              <a:t>Cleaning raw data (fixing missing values, correcting service IDs, standardising fields)</a:t>
            </a:r>
          </a:p>
          <a:p>
            <a:pPr marL="342900" indent="-342900" algn="l">
              <a:buChar char="•"/>
            </a:pPr>
            <a:r>
              <a:rPr lang="en-GB"/>
              <a:t>Using formulas like VLOOKUP, XLOOKUP, COUNTIF, AVERAGEIF etc. </a:t>
            </a:r>
          </a:p>
          <a:p>
            <a:pPr marL="342900" indent="-342900" algn="l">
              <a:buChar char="•"/>
            </a:pPr>
            <a:r>
              <a:rPr lang="en-GB"/>
              <a:t>Creating </a:t>
            </a:r>
            <a:r>
              <a:rPr lang="en-GB" i="1"/>
              <a:t>pivot tables</a:t>
            </a:r>
            <a:r>
              <a:rPr lang="en-GB"/>
              <a:t> to summarise industries, services, revenue, and consultant activity</a:t>
            </a:r>
          </a:p>
          <a:p>
            <a:pPr algn="l"/>
            <a:r>
              <a:rPr lang="en-GB" i="1"/>
              <a:t>Excel is most efficient, allowing fast correction and data transformation before deeper analysis</a:t>
            </a:r>
            <a:r>
              <a:rPr lang="en-GB"/>
              <a:t>.</a:t>
            </a:r>
          </a:p>
          <a:p>
            <a:pPr algn="l"/>
            <a:endParaRPr lang="en-GB"/>
          </a:p>
          <a:p>
            <a:pPr algn="l"/>
            <a:endParaRPr lang="en-GB"/>
          </a:p>
        </p:txBody>
      </p:sp>
      <p:grpSp>
        <p:nvGrpSpPr>
          <p:cNvPr id="11" name="Group 10">
            <a:extLst>
              <a:ext uri="{FF2B5EF4-FFF2-40B4-BE49-F238E27FC236}">
                <a16:creationId xmlns:a16="http://schemas.microsoft.com/office/drawing/2014/main" id="{BA49A20A-8BA3-44CB-98BB-C4EBC2DB8A4D}"/>
              </a:ext>
            </a:extLst>
          </p:cNvPr>
          <p:cNvGrpSpPr/>
          <p:nvPr/>
        </p:nvGrpSpPr>
        <p:grpSpPr>
          <a:xfrm>
            <a:off x="-6413" y="6277105"/>
            <a:ext cx="12206130" cy="582721"/>
            <a:chOff x="-282638" y="6296155"/>
            <a:chExt cx="12723201" cy="582721"/>
          </a:xfrm>
        </p:grpSpPr>
        <p:sp>
          <p:nvSpPr>
            <p:cNvPr id="9" name="Rectangle 8">
              <a:extLst>
                <a:ext uri="{FF2B5EF4-FFF2-40B4-BE49-F238E27FC236}">
                  <a16:creationId xmlns:a16="http://schemas.microsoft.com/office/drawing/2014/main" id="{A5D25BE2-AB65-600F-8476-8AD2B8806B06}"/>
                </a:ext>
              </a:extLst>
            </p:cNvPr>
            <p:cNvSpPr/>
            <p:nvPr/>
          </p:nvSpPr>
          <p:spPr>
            <a:xfrm>
              <a:off x="-282638" y="6296155"/>
              <a:ext cx="12723201" cy="582721"/>
            </a:xfrm>
            <a:prstGeom prst="rect">
              <a:avLst/>
            </a:prstGeom>
            <a:solidFill>
              <a:srgbClr val="00357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0" name="Picture 9" descr="A white line drawing of a duck&#10;&#10;AI-generated content may be incorrect.">
              <a:extLst>
                <a:ext uri="{FF2B5EF4-FFF2-40B4-BE49-F238E27FC236}">
                  <a16:creationId xmlns:a16="http://schemas.microsoft.com/office/drawing/2014/main" id="{3324CBF1-1A42-4AC5-DA42-876CD7310EF4}"/>
                </a:ext>
              </a:extLst>
            </p:cNvPr>
            <p:cNvPicPr>
              <a:picLocks noChangeAspect="1"/>
            </p:cNvPicPr>
            <p:nvPr/>
          </p:nvPicPr>
          <p:blipFill>
            <a:blip r:embed="rId2"/>
            <a:srcRect l="16269" t="50000" r="60000"/>
            <a:stretch>
              <a:fillRect/>
            </a:stretch>
          </p:blipFill>
          <p:spPr>
            <a:xfrm>
              <a:off x="10768" y="6315075"/>
              <a:ext cx="495962" cy="561975"/>
            </a:xfrm>
            <a:prstGeom prst="rect">
              <a:avLst/>
            </a:prstGeom>
            <a:ln>
              <a:noFill/>
            </a:ln>
          </p:spPr>
        </p:pic>
      </p:grpSp>
    </p:spTree>
    <p:extLst>
      <p:ext uri="{BB962C8B-B14F-4D97-AF65-F5344CB8AC3E}">
        <p14:creationId xmlns:p14="http://schemas.microsoft.com/office/powerpoint/2010/main" val="1055480845"/>
      </p:ext>
    </p:extLst>
  </p:cSld>
  <p:clrMapOvr>
    <a:masterClrMapping/>
  </p:clrMapOvr>
  <p:transition spd="med">
    <p:pull/>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AB13F9-1270-A5BA-993D-901662ADC10F}"/>
              </a:ext>
            </a:extLst>
          </p:cNvPr>
          <p:cNvSpPr>
            <a:spLocks noGrp="1"/>
          </p:cNvSpPr>
          <p:nvPr>
            <p:ph type="ctrTitle"/>
          </p:nvPr>
        </p:nvSpPr>
        <p:spPr>
          <a:xfrm>
            <a:off x="1743919" y="115366"/>
            <a:ext cx="9144000" cy="1053677"/>
          </a:xfrm>
        </p:spPr>
        <p:txBody>
          <a:bodyPr/>
          <a:lstStyle/>
          <a:p>
            <a:r>
              <a:rPr lang="en-GB"/>
              <a:t>Data Privacy &amp; Security</a:t>
            </a:r>
            <a:endParaRPr lang="en-US"/>
          </a:p>
        </p:txBody>
      </p:sp>
      <p:sp>
        <p:nvSpPr>
          <p:cNvPr id="3" name="Subtitle 2">
            <a:extLst>
              <a:ext uri="{FF2B5EF4-FFF2-40B4-BE49-F238E27FC236}">
                <a16:creationId xmlns:a16="http://schemas.microsoft.com/office/drawing/2014/main" id="{CA3153C6-5431-9D6A-E96C-D7320B6B9053}"/>
              </a:ext>
            </a:extLst>
          </p:cNvPr>
          <p:cNvSpPr>
            <a:spLocks noGrp="1"/>
          </p:cNvSpPr>
          <p:nvPr>
            <p:ph type="subTitle" idx="1"/>
          </p:nvPr>
        </p:nvSpPr>
        <p:spPr>
          <a:xfrm>
            <a:off x="335666" y="1169043"/>
            <a:ext cx="11713580" cy="5106866"/>
          </a:xfrm>
        </p:spPr>
        <p:txBody>
          <a:bodyPr vert="horz" lIns="91440" tIns="45720" rIns="91440" bIns="45720" rtlCol="0" anchor="t">
            <a:normAutofit fontScale="92500" lnSpcReduction="20000"/>
          </a:bodyPr>
          <a:lstStyle/>
          <a:p>
            <a:pPr algn="l"/>
            <a:endParaRPr lang="en-GB" sz="2000"/>
          </a:p>
          <a:p>
            <a:pPr algn="l"/>
            <a:r>
              <a:rPr lang="en-GB" sz="2000"/>
              <a:t>Our project kept our client and consultancy fully protected by ensuring all data was handled securely, stored safely, and analysed only within approved tools and environments.</a:t>
            </a:r>
          </a:p>
          <a:p>
            <a:pPr algn="l"/>
            <a:endParaRPr lang="en-GB" sz="2000"/>
          </a:p>
          <a:p>
            <a:pPr algn="l"/>
            <a:r>
              <a:rPr lang="en-GB" sz="2000" b="1"/>
              <a:t>Data Minimisation:</a:t>
            </a:r>
          </a:p>
          <a:p>
            <a:pPr algn="l"/>
            <a:r>
              <a:rPr lang="en-GB" sz="2000"/>
              <a:t>Kept only the fields required for analysis</a:t>
            </a:r>
          </a:p>
          <a:p>
            <a:pPr algn="l"/>
            <a:r>
              <a:rPr lang="en-GB" sz="2000" b="1"/>
              <a:t>Access Control:</a:t>
            </a:r>
          </a:p>
          <a:p>
            <a:pPr algn="l"/>
            <a:r>
              <a:rPr lang="en-GB" sz="2000"/>
              <a:t>Only the project team handled the dataset, no external sharing</a:t>
            </a:r>
          </a:p>
          <a:p>
            <a:pPr algn="l"/>
            <a:r>
              <a:rPr lang="en-GB" sz="2000" b="1"/>
              <a:t>Confidently:</a:t>
            </a:r>
          </a:p>
          <a:p>
            <a:pPr algn="l"/>
            <a:r>
              <a:rPr lang="en-GB" sz="2000"/>
              <a:t>All insights were presented as a summary on PowerPoint, protecting individual client details</a:t>
            </a:r>
          </a:p>
          <a:p>
            <a:pPr algn="l"/>
            <a:r>
              <a:rPr lang="en-GB" sz="2000" b="1"/>
              <a:t>Secure Storage:</a:t>
            </a:r>
          </a:p>
          <a:p>
            <a:pPr algn="l"/>
            <a:r>
              <a:rPr lang="en-GB" sz="2000"/>
              <a:t>Files stored on protected devices</a:t>
            </a:r>
          </a:p>
          <a:p>
            <a:pPr algn="l"/>
            <a:endParaRPr lang="en-GB" sz="2000"/>
          </a:p>
          <a:p>
            <a:pPr marL="342900" indent="-342900" algn="l">
              <a:buFont typeface="Arial" panose="020B0604020202020204" pitchFamily="34" charset="0"/>
              <a:buChar char="•"/>
            </a:pPr>
            <a:r>
              <a:rPr lang="en-GB" sz="2000"/>
              <a:t>No personal or sensitive client information shared outside the analysis environment</a:t>
            </a:r>
          </a:p>
          <a:p>
            <a:pPr marL="342900" indent="-342900" algn="l">
              <a:buFont typeface="Arial" panose="020B0604020202020204" pitchFamily="34" charset="0"/>
              <a:buChar char="•"/>
            </a:pPr>
            <a:r>
              <a:rPr lang="en-GB" sz="2000"/>
              <a:t>Followed data‑minimisation, access control, and confidentiality principles throughou</a:t>
            </a:r>
            <a:r>
              <a:rPr lang="en-GB"/>
              <a:t>t</a:t>
            </a:r>
          </a:p>
        </p:txBody>
      </p:sp>
      <p:grpSp>
        <p:nvGrpSpPr>
          <p:cNvPr id="16" name="Group 15">
            <a:extLst>
              <a:ext uri="{FF2B5EF4-FFF2-40B4-BE49-F238E27FC236}">
                <a16:creationId xmlns:a16="http://schemas.microsoft.com/office/drawing/2014/main" id="{491D3AB7-CBD5-125A-D083-F63F89CC29EE}"/>
              </a:ext>
            </a:extLst>
          </p:cNvPr>
          <p:cNvGrpSpPr/>
          <p:nvPr/>
        </p:nvGrpSpPr>
        <p:grpSpPr>
          <a:xfrm>
            <a:off x="913" y="6277105"/>
            <a:ext cx="12212411" cy="582721"/>
            <a:chOff x="913" y="6277105"/>
            <a:chExt cx="12430125" cy="582721"/>
          </a:xfrm>
        </p:grpSpPr>
        <p:sp>
          <p:nvSpPr>
            <p:cNvPr id="17" name="Rectangle 16">
              <a:extLst>
                <a:ext uri="{FF2B5EF4-FFF2-40B4-BE49-F238E27FC236}">
                  <a16:creationId xmlns:a16="http://schemas.microsoft.com/office/drawing/2014/main" id="{6DBCB5D5-FA8E-2C0E-F9BB-F54DA79E6E76}"/>
                </a:ext>
              </a:extLst>
            </p:cNvPr>
            <p:cNvSpPr/>
            <p:nvPr/>
          </p:nvSpPr>
          <p:spPr>
            <a:xfrm>
              <a:off x="913" y="6277105"/>
              <a:ext cx="12430125" cy="582721"/>
            </a:xfrm>
            <a:prstGeom prst="rect">
              <a:avLst/>
            </a:prstGeom>
            <a:solidFill>
              <a:srgbClr val="00357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a:p>
          </p:txBody>
        </p:sp>
        <p:pic>
          <p:nvPicPr>
            <p:cNvPr id="18" name="Picture 17" descr="A white line drawing of a duck&#10;&#10;AI-generated content may be incorrect.">
              <a:extLst>
                <a:ext uri="{FF2B5EF4-FFF2-40B4-BE49-F238E27FC236}">
                  <a16:creationId xmlns:a16="http://schemas.microsoft.com/office/drawing/2014/main" id="{DDB6A0AE-A0ED-55B1-E593-8468465B38B2}"/>
                </a:ext>
              </a:extLst>
            </p:cNvPr>
            <p:cNvPicPr>
              <a:picLocks noChangeAspect="1"/>
            </p:cNvPicPr>
            <p:nvPr/>
          </p:nvPicPr>
          <p:blipFill>
            <a:blip r:embed="rId2"/>
            <a:srcRect l="16269" t="50000" r="60000"/>
            <a:stretch>
              <a:fillRect/>
            </a:stretch>
          </p:blipFill>
          <p:spPr>
            <a:xfrm>
              <a:off x="1243" y="6296025"/>
              <a:ext cx="495962" cy="561975"/>
            </a:xfrm>
            <a:prstGeom prst="rect">
              <a:avLst/>
            </a:prstGeom>
            <a:ln>
              <a:noFill/>
            </a:ln>
          </p:spPr>
        </p:pic>
      </p:grpSp>
    </p:spTree>
    <p:extLst>
      <p:ext uri="{BB962C8B-B14F-4D97-AF65-F5344CB8AC3E}">
        <p14:creationId xmlns:p14="http://schemas.microsoft.com/office/powerpoint/2010/main" val="1163484809"/>
      </p:ext>
    </p:extLst>
  </p:cSld>
  <p:clrMapOvr>
    <a:masterClrMapping/>
  </p:clrMapOvr>
  <p:transition spd="med">
    <p:pull/>
  </p:transition>
</p:sld>
</file>

<file path=ppt/slides/slide6.xml><?xml version="1.0" encoding="utf-8"?>
<p:sld xmlns:a="http://schemas.openxmlformats.org/drawingml/2006/main" xmlns:r="http://schemas.openxmlformats.org/officeDocument/2006/relationships" xmlns:p="http://schemas.openxmlformats.org/presentationml/2006/main" showMasterSp="0">
  <p:cSld>
    <p:bg>
      <p:bgPr>
        <a:solidFill>
          <a:srgbClr val="00357A"/>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F3494C0-ABDD-4C4D-8C46-49B8F20CC7E9}"/>
              </a:ext>
            </a:extLst>
          </p:cNvPr>
          <p:cNvSpPr>
            <a:spLocks noGrp="1"/>
          </p:cNvSpPr>
          <p:nvPr>
            <p:ph type="title"/>
          </p:nvPr>
        </p:nvSpPr>
        <p:spPr/>
        <p:txBody>
          <a:bodyPr/>
          <a:lstStyle/>
          <a:p>
            <a:r>
              <a:rPr lang="en-US" b="1">
                <a:solidFill>
                  <a:schemeClr val="bg1"/>
                </a:solidFill>
              </a:rPr>
              <a:t>Analysis</a:t>
            </a:r>
          </a:p>
        </p:txBody>
      </p:sp>
      <p:sp>
        <p:nvSpPr>
          <p:cNvPr id="7" name="Text Placeholder 6">
            <a:extLst>
              <a:ext uri="{FF2B5EF4-FFF2-40B4-BE49-F238E27FC236}">
                <a16:creationId xmlns:a16="http://schemas.microsoft.com/office/drawing/2014/main" id="{5546DA24-FF0A-9514-2729-0F3228A0E645}"/>
              </a:ext>
            </a:extLst>
          </p:cNvPr>
          <p:cNvSpPr>
            <a:spLocks noGrp="1"/>
          </p:cNvSpPr>
          <p:nvPr>
            <p:ph type="body" idx="1"/>
          </p:nvPr>
        </p:nvSpPr>
        <p:spPr/>
        <p:txBody>
          <a:bodyPr/>
          <a:lstStyle/>
          <a:p>
            <a:endParaRPr lang="en-GB"/>
          </a:p>
        </p:txBody>
      </p:sp>
      <p:pic>
        <p:nvPicPr>
          <p:cNvPr id="14" name="Picture 13" descr="A white line drawing of a duck&#10;&#10;AI-generated content may be incorrect.">
            <a:extLst>
              <a:ext uri="{FF2B5EF4-FFF2-40B4-BE49-F238E27FC236}">
                <a16:creationId xmlns:a16="http://schemas.microsoft.com/office/drawing/2014/main" id="{423D66DB-28CF-5490-006E-F58B323E2D32}"/>
              </a:ext>
            </a:extLst>
          </p:cNvPr>
          <p:cNvPicPr>
            <a:picLocks noChangeAspect="1"/>
          </p:cNvPicPr>
          <p:nvPr/>
        </p:nvPicPr>
        <p:blipFill>
          <a:blip r:embed="rId2"/>
          <a:srcRect l="16269" t="50000" r="60000"/>
          <a:stretch>
            <a:fillRect/>
          </a:stretch>
        </p:blipFill>
        <p:spPr>
          <a:xfrm flipH="1">
            <a:off x="9375940" y="3508984"/>
            <a:ext cx="2441521" cy="2847975"/>
          </a:xfrm>
          <a:prstGeom prst="rect">
            <a:avLst/>
          </a:prstGeom>
        </p:spPr>
      </p:pic>
    </p:spTree>
    <p:extLst>
      <p:ext uri="{BB962C8B-B14F-4D97-AF65-F5344CB8AC3E}">
        <p14:creationId xmlns:p14="http://schemas.microsoft.com/office/powerpoint/2010/main" val="3462884272"/>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E57876-EE72-C5CE-5C43-50EC89E92059}"/>
              </a:ext>
            </a:extLst>
          </p:cNvPr>
          <p:cNvSpPr>
            <a:spLocks noGrp="1"/>
          </p:cNvSpPr>
          <p:nvPr>
            <p:ph type="ctrTitle"/>
          </p:nvPr>
        </p:nvSpPr>
        <p:spPr>
          <a:xfrm>
            <a:off x="795448" y="593093"/>
            <a:ext cx="10877550" cy="868990"/>
          </a:xfrm>
        </p:spPr>
        <p:txBody>
          <a:bodyPr>
            <a:normAutofit fontScale="90000"/>
          </a:bodyPr>
          <a:lstStyle/>
          <a:p>
            <a:pPr algn="l"/>
            <a:r>
              <a:rPr lang="en-GB"/>
              <a:t> </a:t>
            </a:r>
            <a:r>
              <a:rPr lang="en-GB" sz="4900"/>
              <a:t>Where is EnterpriseGoose most successful?</a:t>
            </a:r>
            <a:endParaRPr lang="en-US"/>
          </a:p>
        </p:txBody>
      </p:sp>
      <p:sp>
        <p:nvSpPr>
          <p:cNvPr id="7" name="TextBox 6">
            <a:extLst>
              <a:ext uri="{FF2B5EF4-FFF2-40B4-BE49-F238E27FC236}">
                <a16:creationId xmlns:a16="http://schemas.microsoft.com/office/drawing/2014/main" id="{4B8E0055-7F92-8F04-00C9-584ACA2BBBF0}"/>
              </a:ext>
            </a:extLst>
          </p:cNvPr>
          <p:cNvSpPr txBox="1"/>
          <p:nvPr/>
        </p:nvSpPr>
        <p:spPr>
          <a:xfrm>
            <a:off x="8750592" y="1834090"/>
            <a:ext cx="2926611" cy="1754326"/>
          </a:xfrm>
          <a:prstGeom prst="rect">
            <a:avLst/>
          </a:prstGeom>
          <a:noFill/>
        </p:spPr>
        <p:txBody>
          <a:bodyPr wrap="square">
            <a:spAutoFit/>
          </a:bodyPr>
          <a:lstStyle/>
          <a:p>
            <a:r>
              <a:rPr lang="en-GB" sz="1800" b="0" i="0">
                <a:solidFill>
                  <a:schemeClr val="dk1"/>
                </a:solidFill>
                <a:effectLst/>
                <a:latin typeface="+mj-lt"/>
                <a:ea typeface="+mn-ea"/>
                <a:cs typeface="+mn-cs"/>
              </a:rPr>
              <a:t>EnterpriseGoose has built its strongest client base in the  UK, with </a:t>
            </a:r>
            <a:r>
              <a:rPr lang="en-GB" sz="1800" b="1" i="0">
                <a:solidFill>
                  <a:schemeClr val="dk1"/>
                </a:solidFill>
                <a:effectLst/>
                <a:latin typeface="+mj-lt"/>
                <a:ea typeface="+mn-ea"/>
                <a:cs typeface="+mn-cs"/>
              </a:rPr>
              <a:t>171 clients</a:t>
            </a:r>
            <a:r>
              <a:rPr lang="en-GB" b="1">
                <a:solidFill>
                  <a:schemeClr val="dk1"/>
                </a:solidFill>
                <a:latin typeface="+mj-lt"/>
              </a:rPr>
              <a:t> </a:t>
            </a:r>
            <a:r>
              <a:rPr lang="en-GB" sz="1800" b="0" i="0">
                <a:solidFill>
                  <a:schemeClr val="dk1"/>
                </a:solidFill>
                <a:effectLst/>
                <a:latin typeface="+mj-lt"/>
                <a:ea typeface="+mn-ea"/>
                <a:cs typeface="+mn-cs"/>
              </a:rPr>
              <a:t>and Ireland with </a:t>
            </a:r>
            <a:r>
              <a:rPr lang="en-GB" sz="1800" b="1" i="0">
                <a:solidFill>
                  <a:schemeClr val="dk1"/>
                </a:solidFill>
                <a:effectLst/>
                <a:latin typeface="+mj-lt"/>
                <a:ea typeface="+mn-ea"/>
                <a:cs typeface="+mn-cs"/>
              </a:rPr>
              <a:t>80 clients </a:t>
            </a:r>
            <a:r>
              <a:rPr lang="en-GB" sz="1800" b="0" i="0">
                <a:solidFill>
                  <a:schemeClr val="dk1"/>
                </a:solidFill>
                <a:effectLst/>
                <a:latin typeface="+mj-lt"/>
                <a:ea typeface="+mn-ea"/>
                <a:cs typeface="+mn-cs"/>
              </a:rPr>
              <a:t>which together represent </a:t>
            </a:r>
            <a:r>
              <a:rPr lang="en-GB" sz="1800" b="1" i="0">
                <a:solidFill>
                  <a:schemeClr val="dk1"/>
                </a:solidFill>
                <a:effectLst/>
                <a:latin typeface="+mj-lt"/>
                <a:ea typeface="+mn-ea"/>
                <a:cs typeface="+mn-cs"/>
              </a:rPr>
              <a:t>71.71%</a:t>
            </a:r>
            <a:r>
              <a:rPr lang="en-GB" sz="1800" b="0" i="0">
                <a:solidFill>
                  <a:schemeClr val="dk1"/>
                </a:solidFill>
                <a:effectLst/>
                <a:latin typeface="+mj-lt"/>
                <a:ea typeface="+mn-ea"/>
                <a:cs typeface="+mn-cs"/>
              </a:rPr>
              <a:t> of their total client base of 350.</a:t>
            </a:r>
            <a:endParaRPr lang="en-GB" sz="1800">
              <a:latin typeface="+mj-lt"/>
            </a:endParaRPr>
          </a:p>
        </p:txBody>
      </p:sp>
      <p:sp>
        <p:nvSpPr>
          <p:cNvPr id="9" name="TextBox 8">
            <a:extLst>
              <a:ext uri="{FF2B5EF4-FFF2-40B4-BE49-F238E27FC236}">
                <a16:creationId xmlns:a16="http://schemas.microsoft.com/office/drawing/2014/main" id="{CD4C609E-0981-4A84-E24A-FE7A2CC449C0}"/>
              </a:ext>
            </a:extLst>
          </p:cNvPr>
          <p:cNvSpPr txBox="1"/>
          <p:nvPr/>
        </p:nvSpPr>
        <p:spPr>
          <a:xfrm>
            <a:off x="8750593" y="4080766"/>
            <a:ext cx="2926611" cy="2031325"/>
          </a:xfrm>
          <a:prstGeom prst="rect">
            <a:avLst/>
          </a:prstGeom>
          <a:noFill/>
        </p:spPr>
        <p:txBody>
          <a:bodyPr wrap="square">
            <a:spAutoFit/>
          </a:bodyPr>
          <a:lstStyle/>
          <a:p>
            <a:r>
              <a:rPr lang="en-GB" sz="1800">
                <a:latin typeface="+mj-lt"/>
              </a:rPr>
              <a:t>This graph shows that most Enterprise's</a:t>
            </a:r>
            <a:r>
              <a:rPr lang="en-GB" sz="1800" baseline="0">
                <a:latin typeface="+mj-lt"/>
              </a:rPr>
              <a:t> clients are highly concentrated in 2 locations </a:t>
            </a:r>
            <a:r>
              <a:rPr lang="en-GB" sz="1800" b="1" baseline="0">
                <a:latin typeface="+mj-lt"/>
              </a:rPr>
              <a:t>(71.71%)  </a:t>
            </a:r>
            <a:r>
              <a:rPr lang="en-GB" sz="1800" baseline="0">
                <a:latin typeface="+mj-lt"/>
              </a:rPr>
              <a:t>which poses risks as if anything would happen it could cause a serious effect on their business. </a:t>
            </a:r>
            <a:endParaRPr lang="en-GB">
              <a:latin typeface="+mj-lt"/>
            </a:endParaRPr>
          </a:p>
        </p:txBody>
      </p:sp>
      <p:graphicFrame>
        <p:nvGraphicFramePr>
          <p:cNvPr id="10" name="Chart 9">
            <a:extLst>
              <a:ext uri="{FF2B5EF4-FFF2-40B4-BE49-F238E27FC236}">
                <a16:creationId xmlns:a16="http://schemas.microsoft.com/office/drawing/2014/main" id="{D2B6C8AB-7147-DA77-45BD-F63AAF1CEFD8}"/>
              </a:ext>
            </a:extLst>
          </p:cNvPr>
          <p:cNvGraphicFramePr>
            <a:graphicFrameLocks/>
          </p:cNvGraphicFramePr>
          <p:nvPr>
            <p:extLst>
              <p:ext uri="{D42A27DB-BD31-4B8C-83A1-F6EECF244321}">
                <p14:modId xmlns:p14="http://schemas.microsoft.com/office/powerpoint/2010/main" val="4149012324"/>
              </p:ext>
            </p:extLst>
          </p:nvPr>
        </p:nvGraphicFramePr>
        <p:xfrm>
          <a:off x="340019" y="1552850"/>
          <a:ext cx="8127267" cy="4705232"/>
        </p:xfrm>
        <a:graphic>
          <a:graphicData uri="http://schemas.openxmlformats.org/drawingml/2006/chart">
            <c:chart xmlns:c="http://schemas.openxmlformats.org/drawingml/2006/chart" xmlns:r="http://schemas.openxmlformats.org/officeDocument/2006/relationships" r:id="rId2"/>
          </a:graphicData>
        </a:graphic>
      </p:graphicFrame>
      <p:grpSp>
        <p:nvGrpSpPr>
          <p:cNvPr id="3" name="Group 2">
            <a:extLst>
              <a:ext uri="{FF2B5EF4-FFF2-40B4-BE49-F238E27FC236}">
                <a16:creationId xmlns:a16="http://schemas.microsoft.com/office/drawing/2014/main" id="{DF838CA8-911C-670A-8276-A62B2F6CBDED}"/>
              </a:ext>
            </a:extLst>
          </p:cNvPr>
          <p:cNvGrpSpPr/>
          <p:nvPr/>
        </p:nvGrpSpPr>
        <p:grpSpPr>
          <a:xfrm>
            <a:off x="913" y="6277105"/>
            <a:ext cx="12430125" cy="582721"/>
            <a:chOff x="913" y="6277105"/>
            <a:chExt cx="12430125" cy="582721"/>
          </a:xfrm>
        </p:grpSpPr>
        <p:sp>
          <p:nvSpPr>
            <p:cNvPr id="4" name="Rectangle 3">
              <a:extLst>
                <a:ext uri="{FF2B5EF4-FFF2-40B4-BE49-F238E27FC236}">
                  <a16:creationId xmlns:a16="http://schemas.microsoft.com/office/drawing/2014/main" id="{00A0AB2D-C2E9-8B79-4FD9-416A712EE1A4}"/>
                </a:ext>
              </a:extLst>
            </p:cNvPr>
            <p:cNvSpPr/>
            <p:nvPr/>
          </p:nvSpPr>
          <p:spPr>
            <a:xfrm>
              <a:off x="913" y="6277105"/>
              <a:ext cx="12430125" cy="582721"/>
            </a:xfrm>
            <a:prstGeom prst="rect">
              <a:avLst/>
            </a:prstGeom>
            <a:solidFill>
              <a:srgbClr val="00357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a:p>
          </p:txBody>
        </p:sp>
        <p:pic>
          <p:nvPicPr>
            <p:cNvPr id="5" name="Picture 4" descr="A white line drawing of a duck&#10;&#10;AI-generated content may be incorrect.">
              <a:extLst>
                <a:ext uri="{FF2B5EF4-FFF2-40B4-BE49-F238E27FC236}">
                  <a16:creationId xmlns:a16="http://schemas.microsoft.com/office/drawing/2014/main" id="{300E7F60-C396-447B-D1D0-7D65BBCCCAD7}"/>
                </a:ext>
              </a:extLst>
            </p:cNvPr>
            <p:cNvPicPr>
              <a:picLocks noChangeAspect="1"/>
            </p:cNvPicPr>
            <p:nvPr/>
          </p:nvPicPr>
          <p:blipFill>
            <a:blip r:embed="rId3"/>
            <a:srcRect l="16269" t="50000" r="60000"/>
            <a:stretch>
              <a:fillRect/>
            </a:stretch>
          </p:blipFill>
          <p:spPr>
            <a:xfrm>
              <a:off x="1243" y="6296025"/>
              <a:ext cx="495962" cy="561975"/>
            </a:xfrm>
            <a:prstGeom prst="rect">
              <a:avLst/>
            </a:prstGeom>
            <a:ln>
              <a:noFill/>
            </a:ln>
          </p:spPr>
        </p:pic>
      </p:grpSp>
    </p:spTree>
    <p:extLst>
      <p:ext uri="{BB962C8B-B14F-4D97-AF65-F5344CB8AC3E}">
        <p14:creationId xmlns:p14="http://schemas.microsoft.com/office/powerpoint/2010/main" val="202774326"/>
      </p:ext>
    </p:extLst>
  </p:cSld>
  <p:clrMapOvr>
    <a:masterClrMapping/>
  </p:clrMapOvr>
  <p:transition spd="med">
    <p:pull/>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88075A-69DD-1306-735C-2018E05F9C80}"/>
              </a:ext>
            </a:extLst>
          </p:cNvPr>
          <p:cNvSpPr>
            <a:spLocks noGrp="1"/>
          </p:cNvSpPr>
          <p:nvPr>
            <p:ph type="title"/>
          </p:nvPr>
        </p:nvSpPr>
        <p:spPr>
          <a:xfrm>
            <a:off x="839973" y="480335"/>
            <a:ext cx="10515600" cy="1325563"/>
          </a:xfrm>
        </p:spPr>
        <p:txBody>
          <a:bodyPr/>
          <a:lstStyle/>
          <a:p>
            <a:r>
              <a:rPr lang="en-GB"/>
              <a:t>Where is organic growth coming from?</a:t>
            </a:r>
          </a:p>
        </p:txBody>
      </p:sp>
      <p:pic>
        <p:nvPicPr>
          <p:cNvPr id="5" name="Content Placeholder 4">
            <a:extLst>
              <a:ext uri="{FF2B5EF4-FFF2-40B4-BE49-F238E27FC236}">
                <a16:creationId xmlns:a16="http://schemas.microsoft.com/office/drawing/2014/main" id="{C9D13965-2D35-96EF-3AF4-26A7D7373524}"/>
              </a:ext>
            </a:extLst>
          </p:cNvPr>
          <p:cNvPicPr>
            <a:picLocks noGrp="1" noChangeAspect="1"/>
          </p:cNvPicPr>
          <p:nvPr>
            <p:ph idx="1"/>
          </p:nvPr>
        </p:nvPicPr>
        <p:blipFill>
          <a:blip r:embed="rId2"/>
          <a:stretch>
            <a:fillRect/>
          </a:stretch>
        </p:blipFill>
        <p:spPr>
          <a:xfrm>
            <a:off x="581557" y="2277100"/>
            <a:ext cx="7903224" cy="3858971"/>
          </a:xfrm>
          <a:prstGeom prst="rect">
            <a:avLst/>
          </a:prstGeom>
        </p:spPr>
      </p:pic>
      <p:sp>
        <p:nvSpPr>
          <p:cNvPr id="8" name="TextBox 7">
            <a:extLst>
              <a:ext uri="{FF2B5EF4-FFF2-40B4-BE49-F238E27FC236}">
                <a16:creationId xmlns:a16="http://schemas.microsoft.com/office/drawing/2014/main" id="{2B69FCE3-D239-EAEF-D5C7-3C3B6AA5FF3C}"/>
              </a:ext>
            </a:extLst>
          </p:cNvPr>
          <p:cNvSpPr txBox="1"/>
          <p:nvPr/>
        </p:nvSpPr>
        <p:spPr>
          <a:xfrm>
            <a:off x="581557" y="5874461"/>
            <a:ext cx="4444409" cy="261610"/>
          </a:xfrm>
          <a:prstGeom prst="rect">
            <a:avLst/>
          </a:prstGeom>
          <a:noFill/>
        </p:spPr>
        <p:txBody>
          <a:bodyPr wrap="square" rtlCol="0">
            <a:spAutoFit/>
          </a:bodyPr>
          <a:lstStyle/>
          <a:p>
            <a:r>
              <a:rPr lang="en-GB" sz="1100"/>
              <a:t>Based on Leads_2026 and clients data</a:t>
            </a:r>
          </a:p>
        </p:txBody>
      </p:sp>
      <p:sp>
        <p:nvSpPr>
          <p:cNvPr id="10" name="TextBox 9">
            <a:extLst>
              <a:ext uri="{FF2B5EF4-FFF2-40B4-BE49-F238E27FC236}">
                <a16:creationId xmlns:a16="http://schemas.microsoft.com/office/drawing/2014/main" id="{2D285C03-EF29-3DCC-1413-857B649E74FA}"/>
              </a:ext>
            </a:extLst>
          </p:cNvPr>
          <p:cNvSpPr txBox="1"/>
          <p:nvPr/>
        </p:nvSpPr>
        <p:spPr>
          <a:xfrm>
            <a:off x="8484781" y="2277100"/>
            <a:ext cx="3502162" cy="3293209"/>
          </a:xfrm>
          <a:prstGeom prst="rect">
            <a:avLst/>
          </a:prstGeom>
          <a:noFill/>
        </p:spPr>
        <p:txBody>
          <a:bodyPr wrap="square" lIns="91440" tIns="45720" rIns="91440" bIns="45720" anchor="t">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600" b="0" i="0" u="none" strike="noStrike" kern="0" cap="none" spc="0" normalizeH="0" baseline="0" noProof="0">
              <a:ln>
                <a:noFill/>
              </a:ln>
              <a:solidFill>
                <a:srgbClr val="000000"/>
              </a:solidFill>
              <a:effectLst/>
              <a:uLnTx/>
              <a:uFillTx/>
              <a:latin typeface="+mj-lt"/>
              <a:ea typeface="Calibri"/>
              <a:cs typeface="Calibri"/>
            </a:endParaRPr>
          </a:p>
          <a:p>
            <a:pPr marL="285750" indent="-285750">
              <a:buFont typeface="Arial"/>
              <a:buChar char="•"/>
              <a:defRPr/>
            </a:pPr>
            <a:r>
              <a:rPr lang="en-GB" sz="1600" kern="0">
                <a:solidFill>
                  <a:srgbClr val="000000"/>
                </a:solidFill>
                <a:ea typeface="Calibri"/>
                <a:cs typeface="Calibri"/>
              </a:rPr>
              <a:t>Locations where EnterpriseGoose have established clients are generating new organic leads. </a:t>
            </a:r>
            <a:endParaRPr lang="en-GB" sz="1600" kern="0">
              <a:solidFill>
                <a:srgbClr val="000000"/>
              </a:solidFill>
              <a:latin typeface="+mj-lt"/>
              <a:ea typeface="Calibri"/>
              <a:cs typeface="Calibri"/>
            </a:endParaRPr>
          </a:p>
          <a:p>
            <a:pPr marL="285750" indent="-285750">
              <a:buFont typeface="Arial"/>
              <a:buChar char="•"/>
              <a:defRPr/>
            </a:pPr>
            <a:r>
              <a:rPr lang="en-GB" sz="1600"/>
              <a:t>France </a:t>
            </a:r>
            <a:r>
              <a:rPr lang="en-GB" sz="1600" b="1"/>
              <a:t>(2.25) </a:t>
            </a:r>
            <a:r>
              <a:rPr lang="en-GB" sz="1600"/>
              <a:t>and Germany </a:t>
            </a:r>
            <a:r>
              <a:rPr lang="en-GB" sz="1600" b="1"/>
              <a:t>(1.60) </a:t>
            </a:r>
            <a:r>
              <a:rPr lang="en-GB" sz="1600"/>
              <a:t>generate the most leads per existing client than the UK and Ireland. </a:t>
            </a:r>
          </a:p>
          <a:p>
            <a:pPr marL="285750" indent="-285750">
              <a:buFont typeface="Arial"/>
              <a:buChar char="•"/>
              <a:defRPr/>
            </a:pPr>
            <a:r>
              <a:rPr lang="en-GB" sz="1600" kern="0">
                <a:solidFill>
                  <a:srgbClr val="000000"/>
                </a:solidFill>
                <a:latin typeface="+mj-lt"/>
                <a:ea typeface="Calibri"/>
                <a:cs typeface="Calibri"/>
              </a:rPr>
              <a:t>Reputation and referrals are generating the most leads</a:t>
            </a:r>
          </a:p>
          <a:p>
            <a:pPr marL="285750" marR="0" lvl="0" indent="-285750" defTabSz="914400" eaLnBrk="1" fontAlgn="auto" latinLnBrk="0" hangingPunct="1">
              <a:lnSpc>
                <a:spcPct val="100000"/>
              </a:lnSpc>
              <a:spcBef>
                <a:spcPts val="0"/>
              </a:spcBef>
              <a:spcAft>
                <a:spcPts val="0"/>
              </a:spcAft>
              <a:buClrTx/>
              <a:buSzTx/>
              <a:buFont typeface="Arial"/>
              <a:buChar char="•"/>
              <a:tabLst/>
              <a:defRPr/>
            </a:pPr>
            <a:r>
              <a:rPr kumimoji="0" lang="en-GB" sz="1600" b="0" i="0" u="none" strike="noStrike" kern="0" cap="none" spc="0" normalizeH="0" baseline="0" noProof="0">
                <a:ln>
                  <a:noFill/>
                </a:ln>
                <a:solidFill>
                  <a:srgbClr val="000000"/>
                </a:solidFill>
                <a:effectLst/>
                <a:uLnTx/>
                <a:uFillTx/>
                <a:latin typeface="+mj-lt"/>
                <a:ea typeface="Calibri"/>
                <a:cs typeface="Calibri"/>
              </a:rPr>
              <a:t>These locations represent untapped market potential </a:t>
            </a:r>
            <a:endParaRPr lang="en-GB" sz="1600" b="0" i="0" u="none" strike="noStrike" kern="0" cap="none" spc="0" normalizeH="0" baseline="0" noProof="0">
              <a:ln>
                <a:noFill/>
              </a:ln>
              <a:solidFill>
                <a:srgbClr val="000000"/>
              </a:solidFill>
              <a:effectLst/>
              <a:uLnTx/>
              <a:uFillTx/>
              <a:latin typeface="+mj-lt"/>
              <a:ea typeface="Calibri"/>
              <a:cs typeface="Calibri"/>
            </a:endParaRPr>
          </a:p>
          <a:p>
            <a:pPr marL="285750" marR="0" lvl="0" indent="-285750" defTabSz="914400" eaLnBrk="1" fontAlgn="auto" latinLnBrk="0" hangingPunct="1">
              <a:lnSpc>
                <a:spcPct val="100000"/>
              </a:lnSpc>
              <a:spcBef>
                <a:spcPts val="0"/>
              </a:spcBef>
              <a:spcAft>
                <a:spcPts val="0"/>
              </a:spcAft>
              <a:buClrTx/>
              <a:buSzTx/>
              <a:buFont typeface="Arial"/>
              <a:buChar char="•"/>
              <a:tabLst/>
              <a:defRPr/>
            </a:pPr>
            <a:endParaRPr lang="en-GB" sz="1600" b="0" i="0" u="none" strike="noStrike" kern="0" cap="none" spc="0" normalizeH="0" baseline="0" noProof="0">
              <a:ln>
                <a:noFill/>
              </a:ln>
              <a:solidFill>
                <a:srgbClr val="000000"/>
              </a:solidFill>
              <a:effectLst/>
              <a:uLnTx/>
              <a:uFillTx/>
              <a:latin typeface="+mj-lt"/>
              <a:ea typeface="Calibri"/>
              <a:cs typeface="Calibri"/>
            </a:endParaRPr>
          </a:p>
        </p:txBody>
      </p:sp>
      <p:grpSp>
        <p:nvGrpSpPr>
          <p:cNvPr id="12" name="Group 11">
            <a:extLst>
              <a:ext uri="{FF2B5EF4-FFF2-40B4-BE49-F238E27FC236}">
                <a16:creationId xmlns:a16="http://schemas.microsoft.com/office/drawing/2014/main" id="{75349B4D-6B58-84FF-DD86-866652CE697B}"/>
              </a:ext>
            </a:extLst>
          </p:cNvPr>
          <p:cNvGrpSpPr/>
          <p:nvPr/>
        </p:nvGrpSpPr>
        <p:grpSpPr>
          <a:xfrm>
            <a:off x="913" y="6277105"/>
            <a:ext cx="12430125" cy="582721"/>
            <a:chOff x="913" y="6277105"/>
            <a:chExt cx="12430125" cy="582721"/>
          </a:xfrm>
        </p:grpSpPr>
        <p:sp>
          <p:nvSpPr>
            <p:cNvPr id="9" name="Rectangle 8">
              <a:extLst>
                <a:ext uri="{FF2B5EF4-FFF2-40B4-BE49-F238E27FC236}">
                  <a16:creationId xmlns:a16="http://schemas.microsoft.com/office/drawing/2014/main" id="{AC842C72-CA2D-B07F-CB85-83A3A25D0B27}"/>
                </a:ext>
              </a:extLst>
            </p:cNvPr>
            <p:cNvSpPr/>
            <p:nvPr/>
          </p:nvSpPr>
          <p:spPr>
            <a:xfrm>
              <a:off x="913" y="6277105"/>
              <a:ext cx="12430125" cy="582721"/>
            </a:xfrm>
            <a:prstGeom prst="rect">
              <a:avLst/>
            </a:prstGeom>
            <a:solidFill>
              <a:srgbClr val="00357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a:p>
          </p:txBody>
        </p:sp>
        <p:pic>
          <p:nvPicPr>
            <p:cNvPr id="11" name="Picture 10" descr="A white line drawing of a duck&#10;&#10;AI-generated content may be incorrect.">
              <a:extLst>
                <a:ext uri="{FF2B5EF4-FFF2-40B4-BE49-F238E27FC236}">
                  <a16:creationId xmlns:a16="http://schemas.microsoft.com/office/drawing/2014/main" id="{BF22BCC7-1661-F7FD-70D1-E47DB39F194F}"/>
                </a:ext>
              </a:extLst>
            </p:cNvPr>
            <p:cNvPicPr>
              <a:picLocks noChangeAspect="1"/>
            </p:cNvPicPr>
            <p:nvPr/>
          </p:nvPicPr>
          <p:blipFill>
            <a:blip r:embed="rId3"/>
            <a:srcRect l="16269" t="50000" r="60000"/>
            <a:stretch>
              <a:fillRect/>
            </a:stretch>
          </p:blipFill>
          <p:spPr>
            <a:xfrm>
              <a:off x="1243" y="6296025"/>
              <a:ext cx="495962" cy="561975"/>
            </a:xfrm>
            <a:prstGeom prst="rect">
              <a:avLst/>
            </a:prstGeom>
            <a:ln>
              <a:noFill/>
            </a:ln>
          </p:spPr>
        </p:pic>
      </p:grpSp>
    </p:spTree>
    <p:extLst>
      <p:ext uri="{BB962C8B-B14F-4D97-AF65-F5344CB8AC3E}">
        <p14:creationId xmlns:p14="http://schemas.microsoft.com/office/powerpoint/2010/main" val="576692557"/>
      </p:ext>
    </p:extLst>
  </p:cSld>
  <p:clrMapOvr>
    <a:masterClrMapping/>
  </p:clrMapOvr>
  <p:transition spd="med">
    <p:pull/>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EA49E0-2AE8-5CD0-2C01-BFB52630512F}"/>
              </a:ext>
            </a:extLst>
          </p:cNvPr>
          <p:cNvSpPr>
            <a:spLocks noGrp="1"/>
          </p:cNvSpPr>
          <p:nvPr>
            <p:ph type="title"/>
          </p:nvPr>
        </p:nvSpPr>
        <p:spPr/>
        <p:txBody>
          <a:bodyPr/>
          <a:lstStyle/>
          <a:p>
            <a:r>
              <a:rPr lang="en-GB"/>
              <a:t>Where is outreach succeeding in 2026?</a:t>
            </a:r>
          </a:p>
        </p:txBody>
      </p:sp>
      <p:sp>
        <p:nvSpPr>
          <p:cNvPr id="3" name="Content Placeholder 2">
            <a:extLst>
              <a:ext uri="{FF2B5EF4-FFF2-40B4-BE49-F238E27FC236}">
                <a16:creationId xmlns:a16="http://schemas.microsoft.com/office/drawing/2014/main" id="{AE654BC7-8A52-B907-F015-E98D420EC4A4}"/>
              </a:ext>
            </a:extLst>
          </p:cNvPr>
          <p:cNvSpPr>
            <a:spLocks noGrp="1"/>
          </p:cNvSpPr>
          <p:nvPr>
            <p:ph idx="1"/>
          </p:nvPr>
        </p:nvSpPr>
        <p:spPr>
          <a:xfrm>
            <a:off x="8527312" y="1825625"/>
            <a:ext cx="2826488" cy="3920068"/>
          </a:xfrm>
        </p:spPr>
        <p:txBody>
          <a:bodyPr>
            <a:normAutofit/>
          </a:bodyPr>
          <a:lstStyle/>
          <a:p>
            <a:r>
              <a:rPr lang="en-GB" sz="1600"/>
              <a:t>Ireland leads with 5 conversions from 28 leads </a:t>
            </a:r>
            <a:r>
              <a:rPr lang="en-GB" sz="1600" b="1"/>
              <a:t>(17.8%)</a:t>
            </a:r>
          </a:p>
          <a:p>
            <a:r>
              <a:rPr lang="en-GB" sz="1600"/>
              <a:t>UK generates most leads </a:t>
            </a:r>
            <a:r>
              <a:rPr lang="en-GB" sz="1600" b="1"/>
              <a:t>(34)</a:t>
            </a:r>
            <a:r>
              <a:rPr lang="en-GB" sz="1600"/>
              <a:t> but converts at only </a:t>
            </a:r>
            <a:r>
              <a:rPr lang="en-GB" sz="1600" b="1"/>
              <a:t>11.7% </a:t>
            </a:r>
          </a:p>
          <a:p>
            <a:r>
              <a:rPr lang="en-GB" sz="1600"/>
              <a:t>Kenya shows their strongest conversion rate at </a:t>
            </a:r>
            <a:r>
              <a:rPr lang="en-GB" sz="1600" b="1"/>
              <a:t>50% </a:t>
            </a:r>
            <a:r>
              <a:rPr lang="en-GB" sz="1600"/>
              <a:t>from </a:t>
            </a:r>
            <a:r>
              <a:rPr lang="en-GB" sz="1600" b="1"/>
              <a:t>6</a:t>
            </a:r>
            <a:r>
              <a:rPr lang="en-GB" sz="1600"/>
              <a:t> leads.</a:t>
            </a:r>
          </a:p>
          <a:p>
            <a:r>
              <a:rPr lang="en-GB" sz="1600"/>
              <a:t>EnterpriseGoose should consider increasing outreach in Kenya as a growth opportunity.  </a:t>
            </a:r>
          </a:p>
        </p:txBody>
      </p:sp>
      <p:pic>
        <p:nvPicPr>
          <p:cNvPr id="5" name="Picture 4">
            <a:extLst>
              <a:ext uri="{FF2B5EF4-FFF2-40B4-BE49-F238E27FC236}">
                <a16:creationId xmlns:a16="http://schemas.microsoft.com/office/drawing/2014/main" id="{D3B8C44B-242C-D378-5C2F-F1752C598803}"/>
              </a:ext>
            </a:extLst>
          </p:cNvPr>
          <p:cNvPicPr>
            <a:picLocks noChangeAspect="1"/>
          </p:cNvPicPr>
          <p:nvPr/>
        </p:nvPicPr>
        <p:blipFill>
          <a:blip r:embed="rId2"/>
          <a:stretch>
            <a:fillRect/>
          </a:stretch>
        </p:blipFill>
        <p:spPr>
          <a:xfrm>
            <a:off x="838200" y="1825625"/>
            <a:ext cx="7145131" cy="3920068"/>
          </a:xfrm>
          <a:prstGeom prst="rect">
            <a:avLst/>
          </a:prstGeom>
        </p:spPr>
      </p:pic>
      <p:grpSp>
        <p:nvGrpSpPr>
          <p:cNvPr id="4" name="Group 3">
            <a:extLst>
              <a:ext uri="{FF2B5EF4-FFF2-40B4-BE49-F238E27FC236}">
                <a16:creationId xmlns:a16="http://schemas.microsoft.com/office/drawing/2014/main" id="{A87BF69B-4C83-8D37-D19C-E22157DC0BE4}"/>
              </a:ext>
            </a:extLst>
          </p:cNvPr>
          <p:cNvGrpSpPr/>
          <p:nvPr/>
        </p:nvGrpSpPr>
        <p:grpSpPr>
          <a:xfrm>
            <a:off x="913" y="6277105"/>
            <a:ext cx="12430125" cy="582721"/>
            <a:chOff x="913" y="6277105"/>
            <a:chExt cx="12430125" cy="582721"/>
          </a:xfrm>
        </p:grpSpPr>
        <p:sp>
          <p:nvSpPr>
            <p:cNvPr id="6" name="Rectangle 5">
              <a:extLst>
                <a:ext uri="{FF2B5EF4-FFF2-40B4-BE49-F238E27FC236}">
                  <a16:creationId xmlns:a16="http://schemas.microsoft.com/office/drawing/2014/main" id="{2EC60726-AB2B-6B32-8A0C-B16633E0F02A}"/>
                </a:ext>
              </a:extLst>
            </p:cNvPr>
            <p:cNvSpPr/>
            <p:nvPr/>
          </p:nvSpPr>
          <p:spPr>
            <a:xfrm>
              <a:off x="913" y="6277105"/>
              <a:ext cx="12430125" cy="582721"/>
            </a:xfrm>
            <a:prstGeom prst="rect">
              <a:avLst/>
            </a:prstGeom>
            <a:solidFill>
              <a:srgbClr val="00357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a:p>
          </p:txBody>
        </p:sp>
        <p:pic>
          <p:nvPicPr>
            <p:cNvPr id="7" name="Picture 6" descr="A white line drawing of a duck&#10;&#10;AI-generated content may be incorrect.">
              <a:extLst>
                <a:ext uri="{FF2B5EF4-FFF2-40B4-BE49-F238E27FC236}">
                  <a16:creationId xmlns:a16="http://schemas.microsoft.com/office/drawing/2014/main" id="{973DD322-B2A6-F57E-48C3-43EEA67AE1BF}"/>
                </a:ext>
              </a:extLst>
            </p:cNvPr>
            <p:cNvPicPr>
              <a:picLocks noChangeAspect="1"/>
            </p:cNvPicPr>
            <p:nvPr/>
          </p:nvPicPr>
          <p:blipFill>
            <a:blip r:embed="rId3"/>
            <a:srcRect l="16269" t="50000" r="60000"/>
            <a:stretch>
              <a:fillRect/>
            </a:stretch>
          </p:blipFill>
          <p:spPr>
            <a:xfrm>
              <a:off x="1243" y="6296025"/>
              <a:ext cx="495962" cy="561975"/>
            </a:xfrm>
            <a:prstGeom prst="rect">
              <a:avLst/>
            </a:prstGeom>
            <a:ln>
              <a:noFill/>
            </a:ln>
          </p:spPr>
        </p:pic>
      </p:grpSp>
    </p:spTree>
    <p:extLst>
      <p:ext uri="{BB962C8B-B14F-4D97-AF65-F5344CB8AC3E}">
        <p14:creationId xmlns:p14="http://schemas.microsoft.com/office/powerpoint/2010/main" val="3884256925"/>
      </p:ext>
    </p:extLst>
  </p:cSld>
  <p:clrMapOvr>
    <a:masterClrMapping/>
  </p:clrMapOvr>
  <p:transition spd="med">
    <p:pull/>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02770A-476E-C279-1784-3DBC0996B57D}"/>
              </a:ext>
            </a:extLst>
          </p:cNvPr>
          <p:cNvSpPr>
            <a:spLocks noGrp="1"/>
          </p:cNvSpPr>
          <p:nvPr>
            <p:ph type="title"/>
          </p:nvPr>
        </p:nvSpPr>
        <p:spPr/>
        <p:txBody>
          <a:bodyPr/>
          <a:lstStyle/>
          <a:p>
            <a:r>
              <a:rPr lang="en-GB"/>
              <a:t>Conversion rates by industry </a:t>
            </a:r>
          </a:p>
        </p:txBody>
      </p:sp>
      <p:sp>
        <p:nvSpPr>
          <p:cNvPr id="3" name="Content Placeholder 2">
            <a:extLst>
              <a:ext uri="{FF2B5EF4-FFF2-40B4-BE49-F238E27FC236}">
                <a16:creationId xmlns:a16="http://schemas.microsoft.com/office/drawing/2014/main" id="{1AA29D98-36BF-E002-4B5C-05D95BC478C0}"/>
              </a:ext>
            </a:extLst>
          </p:cNvPr>
          <p:cNvSpPr>
            <a:spLocks noGrp="1"/>
          </p:cNvSpPr>
          <p:nvPr>
            <p:ph idx="1"/>
          </p:nvPr>
        </p:nvSpPr>
        <p:spPr>
          <a:xfrm>
            <a:off x="7166344" y="1808130"/>
            <a:ext cx="4187456" cy="3246105"/>
          </a:xfrm>
        </p:spPr>
        <p:txBody>
          <a:bodyPr>
            <a:normAutofit fontScale="92500"/>
          </a:bodyPr>
          <a:lstStyle/>
          <a:p>
            <a:r>
              <a:rPr lang="en-GB" sz="1600">
                <a:latin typeface="+mj-lt"/>
              </a:rPr>
              <a:t>Conversion rates are highly inconsistent across industries. </a:t>
            </a:r>
          </a:p>
          <a:p>
            <a:r>
              <a:rPr lang="en-GB" sz="1600">
                <a:latin typeface="+mj-lt"/>
              </a:rPr>
              <a:t>Climate &amp; Sustainability shows the strongest reliable conversion rate at </a:t>
            </a:r>
            <a:r>
              <a:rPr lang="en-GB" sz="1600" b="1">
                <a:latin typeface="+mj-lt"/>
              </a:rPr>
              <a:t>50% </a:t>
            </a:r>
            <a:r>
              <a:rPr lang="en-GB" sz="1600">
                <a:latin typeface="+mj-lt"/>
              </a:rPr>
              <a:t>from</a:t>
            </a:r>
            <a:r>
              <a:rPr lang="en-GB" sz="1600" b="1">
                <a:latin typeface="+mj-lt"/>
              </a:rPr>
              <a:t> 10 leads</a:t>
            </a:r>
            <a:r>
              <a:rPr lang="en-GB" sz="1600">
                <a:latin typeface="+mj-lt"/>
              </a:rPr>
              <a:t>. In contrast, industries such as Data has </a:t>
            </a:r>
            <a:r>
              <a:rPr lang="en-GB" sz="1600" b="1">
                <a:latin typeface="+mj-lt"/>
              </a:rPr>
              <a:t>14 leads </a:t>
            </a:r>
            <a:r>
              <a:rPr lang="en-GB" sz="1600">
                <a:latin typeface="+mj-lt"/>
              </a:rPr>
              <a:t>with a </a:t>
            </a:r>
            <a:r>
              <a:rPr lang="en-GB" sz="1600" b="1">
                <a:latin typeface="+mj-lt"/>
              </a:rPr>
              <a:t>7.14% conversion rate </a:t>
            </a:r>
            <a:r>
              <a:rPr lang="en-GB" sz="1600">
                <a:latin typeface="+mj-lt"/>
              </a:rPr>
              <a:t>and Energy &amp; Utilities has </a:t>
            </a:r>
            <a:r>
              <a:rPr lang="en-GB" sz="1600" b="1">
                <a:latin typeface="+mj-lt"/>
              </a:rPr>
              <a:t>8 leads </a:t>
            </a:r>
            <a:r>
              <a:rPr lang="en-GB" sz="1600">
                <a:latin typeface="+mj-lt"/>
              </a:rPr>
              <a:t>with a</a:t>
            </a:r>
            <a:r>
              <a:rPr lang="en-GB" sz="1600" b="1">
                <a:latin typeface="+mj-lt"/>
              </a:rPr>
              <a:t> 0% conversion rate </a:t>
            </a:r>
            <a:r>
              <a:rPr lang="en-GB" sz="1600">
                <a:latin typeface="+mj-lt"/>
              </a:rPr>
              <a:t>performing significantly below average. </a:t>
            </a:r>
          </a:p>
          <a:p>
            <a:r>
              <a:rPr lang="en-GB" sz="1600">
                <a:latin typeface="+mj-lt"/>
              </a:rPr>
              <a:t>EnterpriseGoose's services resonates more strongly with certain industries than others.</a:t>
            </a:r>
          </a:p>
          <a:p>
            <a:r>
              <a:rPr lang="en-GB" sz="1600"/>
              <a:t>They should focus outreach efforts on Climate &amp; Sustainability and Technology industries where conversion rates are strongest. </a:t>
            </a:r>
            <a:endParaRPr lang="en-GB" sz="1600">
              <a:latin typeface="+mj-lt"/>
            </a:endParaRPr>
          </a:p>
          <a:p>
            <a:endParaRPr lang="en-GB" sz="1600">
              <a:latin typeface="+mj-lt"/>
            </a:endParaRPr>
          </a:p>
          <a:p>
            <a:endParaRPr lang="en-GB" sz="1600">
              <a:latin typeface="+mj-lt"/>
            </a:endParaRPr>
          </a:p>
        </p:txBody>
      </p:sp>
      <p:pic>
        <p:nvPicPr>
          <p:cNvPr id="5" name="Picture 4">
            <a:extLst>
              <a:ext uri="{FF2B5EF4-FFF2-40B4-BE49-F238E27FC236}">
                <a16:creationId xmlns:a16="http://schemas.microsoft.com/office/drawing/2014/main" id="{F28AECEB-9AF9-FC70-CB3A-759FD6D91592}"/>
              </a:ext>
            </a:extLst>
          </p:cNvPr>
          <p:cNvPicPr>
            <a:picLocks noChangeAspect="1"/>
          </p:cNvPicPr>
          <p:nvPr/>
        </p:nvPicPr>
        <p:blipFill>
          <a:blip r:embed="rId2"/>
          <a:stretch>
            <a:fillRect/>
          </a:stretch>
        </p:blipFill>
        <p:spPr>
          <a:xfrm>
            <a:off x="478465" y="1710439"/>
            <a:ext cx="6517758" cy="4256198"/>
          </a:xfrm>
          <a:prstGeom prst="rect">
            <a:avLst/>
          </a:prstGeom>
        </p:spPr>
      </p:pic>
      <p:grpSp>
        <p:nvGrpSpPr>
          <p:cNvPr id="8" name="Group 7">
            <a:extLst>
              <a:ext uri="{FF2B5EF4-FFF2-40B4-BE49-F238E27FC236}">
                <a16:creationId xmlns:a16="http://schemas.microsoft.com/office/drawing/2014/main" id="{D6DDB0F7-F0D1-2FD1-8B97-AB9578DA03C6}"/>
              </a:ext>
            </a:extLst>
          </p:cNvPr>
          <p:cNvGrpSpPr/>
          <p:nvPr/>
        </p:nvGrpSpPr>
        <p:grpSpPr>
          <a:xfrm>
            <a:off x="913" y="6277105"/>
            <a:ext cx="12226018" cy="582721"/>
            <a:chOff x="913" y="6277105"/>
            <a:chExt cx="12430125" cy="582721"/>
          </a:xfrm>
        </p:grpSpPr>
        <p:sp>
          <p:nvSpPr>
            <p:cNvPr id="6" name="Rectangle 5">
              <a:extLst>
                <a:ext uri="{FF2B5EF4-FFF2-40B4-BE49-F238E27FC236}">
                  <a16:creationId xmlns:a16="http://schemas.microsoft.com/office/drawing/2014/main" id="{37B33514-3D10-E3EE-4A96-7F21E2342437}"/>
                </a:ext>
              </a:extLst>
            </p:cNvPr>
            <p:cNvSpPr/>
            <p:nvPr/>
          </p:nvSpPr>
          <p:spPr>
            <a:xfrm>
              <a:off x="913" y="6277105"/>
              <a:ext cx="12430125" cy="582721"/>
            </a:xfrm>
            <a:prstGeom prst="rect">
              <a:avLst/>
            </a:prstGeom>
            <a:solidFill>
              <a:srgbClr val="00357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a:p>
          </p:txBody>
        </p:sp>
        <p:pic>
          <p:nvPicPr>
            <p:cNvPr id="7" name="Picture 6" descr="A white line drawing of a duck&#10;&#10;AI-generated content may be incorrect.">
              <a:extLst>
                <a:ext uri="{FF2B5EF4-FFF2-40B4-BE49-F238E27FC236}">
                  <a16:creationId xmlns:a16="http://schemas.microsoft.com/office/drawing/2014/main" id="{86A1852F-E2D3-87E1-B97C-F97F27BC3058}"/>
                </a:ext>
              </a:extLst>
            </p:cNvPr>
            <p:cNvPicPr>
              <a:picLocks noChangeAspect="1"/>
            </p:cNvPicPr>
            <p:nvPr/>
          </p:nvPicPr>
          <p:blipFill>
            <a:blip r:embed="rId3"/>
            <a:srcRect l="16269" t="50000" r="60000"/>
            <a:stretch>
              <a:fillRect/>
            </a:stretch>
          </p:blipFill>
          <p:spPr>
            <a:xfrm>
              <a:off x="1243" y="6296025"/>
              <a:ext cx="495962" cy="561975"/>
            </a:xfrm>
            <a:prstGeom prst="rect">
              <a:avLst/>
            </a:prstGeom>
            <a:ln>
              <a:noFill/>
            </a:ln>
          </p:spPr>
        </p:pic>
      </p:grpSp>
    </p:spTree>
    <p:extLst>
      <p:ext uri="{BB962C8B-B14F-4D97-AF65-F5344CB8AC3E}">
        <p14:creationId xmlns:p14="http://schemas.microsoft.com/office/powerpoint/2010/main" val="2395848151"/>
      </p:ext>
    </p:extLst>
  </p:cSld>
  <p:clrMapOvr>
    <a:masterClrMapping/>
  </p:clrMapOvr>
  <p:transition spd="med">
    <p:pull/>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3F8AD2-E526-3BB2-FB89-BFD6C7C44654}"/>
              </a:ext>
            </a:extLst>
          </p:cNvPr>
          <p:cNvSpPr>
            <a:spLocks noGrp="1"/>
          </p:cNvSpPr>
          <p:nvPr>
            <p:ph type="title"/>
          </p:nvPr>
        </p:nvSpPr>
        <p:spPr>
          <a:xfrm>
            <a:off x="1038225" y="401498"/>
            <a:ext cx="10515600" cy="562592"/>
          </a:xfrm>
        </p:spPr>
        <p:txBody>
          <a:bodyPr>
            <a:normAutofit/>
          </a:bodyPr>
          <a:lstStyle/>
          <a:p>
            <a:r>
              <a:rPr lang="en-GB" sz="3000"/>
              <a:t>Which Industries Use Our Services the Most?</a:t>
            </a:r>
            <a:endParaRPr lang="en-US"/>
          </a:p>
        </p:txBody>
      </p:sp>
      <p:sp>
        <p:nvSpPr>
          <p:cNvPr id="3" name="Content Placeholder 2">
            <a:extLst>
              <a:ext uri="{FF2B5EF4-FFF2-40B4-BE49-F238E27FC236}">
                <a16:creationId xmlns:a16="http://schemas.microsoft.com/office/drawing/2014/main" id="{4D7F7F7E-693A-7DB8-19FD-C104EF0CFD99}"/>
              </a:ext>
            </a:extLst>
          </p:cNvPr>
          <p:cNvSpPr>
            <a:spLocks noGrp="1"/>
          </p:cNvSpPr>
          <p:nvPr>
            <p:ph sz="half" idx="1"/>
          </p:nvPr>
        </p:nvSpPr>
        <p:spPr>
          <a:xfrm>
            <a:off x="8429854" y="1412098"/>
            <a:ext cx="3635477" cy="3965575"/>
          </a:xfrm>
        </p:spPr>
        <p:txBody>
          <a:bodyPr>
            <a:normAutofit/>
          </a:bodyPr>
          <a:lstStyle/>
          <a:p>
            <a:r>
              <a:rPr lang="en-GB" sz="2000"/>
              <a:t>Strongest Demand: </a:t>
            </a:r>
          </a:p>
          <a:p>
            <a:pPr lvl="1"/>
            <a:r>
              <a:rPr lang="en-GB" sz="2000"/>
              <a:t>Financial Services</a:t>
            </a:r>
          </a:p>
          <a:p>
            <a:pPr lvl="1"/>
            <a:r>
              <a:rPr lang="en-GB" sz="2000"/>
              <a:t>Retail &amp; Consumer</a:t>
            </a:r>
          </a:p>
          <a:p>
            <a:pPr lvl="1"/>
            <a:r>
              <a:rPr lang="en-GB" sz="2000"/>
              <a:t>Public Sector</a:t>
            </a:r>
          </a:p>
          <a:p>
            <a:pPr lvl="1"/>
            <a:r>
              <a:rPr lang="en-GB" sz="2000"/>
              <a:t>Healthcare &amp; Life Sciences</a:t>
            </a:r>
          </a:p>
          <a:p>
            <a:pPr lvl="1"/>
            <a:r>
              <a:rPr lang="en-GB" sz="2000"/>
              <a:t>Technology &amp; SaaS</a:t>
            </a:r>
          </a:p>
          <a:p>
            <a:r>
              <a:rPr lang="en-GB" sz="2000"/>
              <a:t>Shows the highest project counts, indicating strong engagement and repeat business</a:t>
            </a:r>
          </a:p>
        </p:txBody>
      </p:sp>
      <p:graphicFrame>
        <p:nvGraphicFramePr>
          <p:cNvPr id="5" name="Content Placeholder 4">
            <a:extLst>
              <a:ext uri="{FF2B5EF4-FFF2-40B4-BE49-F238E27FC236}">
                <a16:creationId xmlns:a16="http://schemas.microsoft.com/office/drawing/2014/main" id="{DEC25049-E62E-87B0-413B-AC411B92550E}"/>
              </a:ext>
            </a:extLst>
          </p:cNvPr>
          <p:cNvGraphicFramePr>
            <a:graphicFrameLocks noGrp="1"/>
          </p:cNvGraphicFramePr>
          <p:nvPr>
            <p:ph sz="half" idx="2"/>
            <p:extLst>
              <p:ext uri="{D42A27DB-BD31-4B8C-83A1-F6EECF244321}">
                <p14:modId xmlns:p14="http://schemas.microsoft.com/office/powerpoint/2010/main" val="324252088"/>
              </p:ext>
            </p:extLst>
          </p:nvPr>
        </p:nvGraphicFramePr>
        <p:xfrm>
          <a:off x="497205" y="678340"/>
          <a:ext cx="7489472" cy="5433093"/>
        </p:xfrm>
        <a:graphic>
          <a:graphicData uri="http://schemas.openxmlformats.org/drawingml/2006/chart">
            <c:chart xmlns:c="http://schemas.openxmlformats.org/drawingml/2006/chart" xmlns:r="http://schemas.openxmlformats.org/officeDocument/2006/relationships" r:id="rId2"/>
          </a:graphicData>
        </a:graphic>
      </p:graphicFrame>
      <p:pic>
        <p:nvPicPr>
          <p:cNvPr id="10" name="Picture 9" descr="A white line drawing of a duck&#10;&#10;AI-generated content may be incorrect.">
            <a:extLst>
              <a:ext uri="{FF2B5EF4-FFF2-40B4-BE49-F238E27FC236}">
                <a16:creationId xmlns:a16="http://schemas.microsoft.com/office/drawing/2014/main" id="{4284333D-0854-9647-D550-4D84C88C9B98}"/>
              </a:ext>
            </a:extLst>
          </p:cNvPr>
          <p:cNvPicPr>
            <a:picLocks noChangeAspect="1"/>
          </p:cNvPicPr>
          <p:nvPr/>
        </p:nvPicPr>
        <p:blipFill>
          <a:blip r:embed="rId3"/>
          <a:srcRect l="16269" t="50000" r="60000"/>
          <a:stretch>
            <a:fillRect/>
          </a:stretch>
        </p:blipFill>
        <p:spPr>
          <a:xfrm>
            <a:off x="1243" y="6296025"/>
            <a:ext cx="495962" cy="561975"/>
          </a:xfrm>
          <a:prstGeom prst="rect">
            <a:avLst/>
          </a:prstGeom>
          <a:ln>
            <a:noFill/>
          </a:ln>
        </p:spPr>
      </p:pic>
      <p:grpSp>
        <p:nvGrpSpPr>
          <p:cNvPr id="11" name="Group 10">
            <a:extLst>
              <a:ext uri="{FF2B5EF4-FFF2-40B4-BE49-F238E27FC236}">
                <a16:creationId xmlns:a16="http://schemas.microsoft.com/office/drawing/2014/main" id="{E084C4CE-C349-2C9B-C121-B60FAAB94F64}"/>
              </a:ext>
            </a:extLst>
          </p:cNvPr>
          <p:cNvGrpSpPr/>
          <p:nvPr/>
        </p:nvGrpSpPr>
        <p:grpSpPr>
          <a:xfrm>
            <a:off x="913" y="6277105"/>
            <a:ext cx="12430125" cy="582721"/>
            <a:chOff x="913" y="6277105"/>
            <a:chExt cx="12430125" cy="582721"/>
          </a:xfrm>
        </p:grpSpPr>
        <p:sp>
          <p:nvSpPr>
            <p:cNvPr id="6" name="Rectangle 5">
              <a:extLst>
                <a:ext uri="{FF2B5EF4-FFF2-40B4-BE49-F238E27FC236}">
                  <a16:creationId xmlns:a16="http://schemas.microsoft.com/office/drawing/2014/main" id="{344AE77E-34D6-E530-EA60-A88A961B012F}"/>
                </a:ext>
              </a:extLst>
            </p:cNvPr>
            <p:cNvSpPr/>
            <p:nvPr/>
          </p:nvSpPr>
          <p:spPr>
            <a:xfrm>
              <a:off x="913" y="6277105"/>
              <a:ext cx="12430125" cy="582721"/>
            </a:xfrm>
            <a:prstGeom prst="rect">
              <a:avLst/>
            </a:prstGeom>
            <a:solidFill>
              <a:srgbClr val="00357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a:p>
          </p:txBody>
        </p:sp>
        <p:pic>
          <p:nvPicPr>
            <p:cNvPr id="7" name="Picture 6" descr="A white line drawing of a duck&#10;&#10;AI-generated content may be incorrect.">
              <a:extLst>
                <a:ext uri="{FF2B5EF4-FFF2-40B4-BE49-F238E27FC236}">
                  <a16:creationId xmlns:a16="http://schemas.microsoft.com/office/drawing/2014/main" id="{F5F9DB02-FB41-D015-599A-35BBDCB1A518}"/>
                </a:ext>
              </a:extLst>
            </p:cNvPr>
            <p:cNvPicPr>
              <a:picLocks noChangeAspect="1"/>
            </p:cNvPicPr>
            <p:nvPr/>
          </p:nvPicPr>
          <p:blipFill>
            <a:blip r:embed="rId3"/>
            <a:srcRect l="16269" t="50000" r="60000"/>
            <a:stretch>
              <a:fillRect/>
            </a:stretch>
          </p:blipFill>
          <p:spPr>
            <a:xfrm>
              <a:off x="1243" y="6296025"/>
              <a:ext cx="495962" cy="561975"/>
            </a:xfrm>
            <a:prstGeom prst="rect">
              <a:avLst/>
            </a:prstGeom>
            <a:ln>
              <a:noFill/>
            </a:ln>
          </p:spPr>
        </p:pic>
      </p:grpSp>
    </p:spTree>
    <p:extLst>
      <p:ext uri="{BB962C8B-B14F-4D97-AF65-F5344CB8AC3E}">
        <p14:creationId xmlns:p14="http://schemas.microsoft.com/office/powerpoint/2010/main" val="2170103952"/>
      </p:ext>
    </p:extLst>
  </p:cSld>
  <p:clrMapOvr>
    <a:masterClrMapping/>
  </p:clrMapOvr>
  <p:transition spd="med">
    <p:pull/>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D0E17-A77F-ADF8-9C68-9CFF72849670}"/>
              </a:ext>
            </a:extLst>
          </p:cNvPr>
          <p:cNvSpPr>
            <a:spLocks noGrp="1"/>
          </p:cNvSpPr>
          <p:nvPr>
            <p:ph type="title"/>
          </p:nvPr>
        </p:nvSpPr>
        <p:spPr>
          <a:xfrm>
            <a:off x="685800" y="504826"/>
            <a:ext cx="10515600" cy="804861"/>
          </a:xfrm>
        </p:spPr>
        <p:txBody>
          <a:bodyPr>
            <a:noAutofit/>
          </a:bodyPr>
          <a:lstStyle/>
          <a:p>
            <a:r>
              <a:rPr lang="en-GB"/>
              <a:t>Services</a:t>
            </a:r>
            <a:r>
              <a:rPr lang="en-GB" sz="4000"/>
              <a:t> Popularity &amp; Profitability Summary</a:t>
            </a:r>
          </a:p>
        </p:txBody>
      </p:sp>
      <p:sp>
        <p:nvSpPr>
          <p:cNvPr id="4" name="Content Placeholder 3">
            <a:extLst>
              <a:ext uri="{FF2B5EF4-FFF2-40B4-BE49-F238E27FC236}">
                <a16:creationId xmlns:a16="http://schemas.microsoft.com/office/drawing/2014/main" id="{932D30FE-0017-0F83-592D-496950354510}"/>
              </a:ext>
            </a:extLst>
          </p:cNvPr>
          <p:cNvSpPr>
            <a:spLocks noGrp="1"/>
          </p:cNvSpPr>
          <p:nvPr>
            <p:ph sz="half" idx="2"/>
          </p:nvPr>
        </p:nvSpPr>
        <p:spPr>
          <a:xfrm>
            <a:off x="683268" y="1534128"/>
            <a:ext cx="11335593" cy="4214993"/>
          </a:xfrm>
        </p:spPr>
        <p:txBody>
          <a:bodyPr>
            <a:normAutofit/>
          </a:bodyPr>
          <a:lstStyle/>
          <a:p>
            <a:pPr marL="0" indent="0">
              <a:buNone/>
            </a:pPr>
            <a:r>
              <a:rPr lang="en-GB" sz="2000"/>
              <a:t>Most Popular Services:</a:t>
            </a:r>
          </a:p>
          <a:p>
            <a:pPr lvl="1"/>
            <a:r>
              <a:rPr lang="en-GB" sz="2000"/>
              <a:t>Management</a:t>
            </a:r>
          </a:p>
          <a:p>
            <a:pPr lvl="1"/>
            <a:r>
              <a:rPr lang="en-GB" sz="2000"/>
              <a:t>Logistics</a:t>
            </a:r>
          </a:p>
          <a:p>
            <a:pPr lvl="1"/>
            <a:r>
              <a:rPr lang="en-GB" sz="2000"/>
              <a:t>Cybersecurity Development</a:t>
            </a:r>
          </a:p>
          <a:p>
            <a:endParaRPr lang="en-GB" sz="2000"/>
          </a:p>
          <a:p>
            <a:r>
              <a:rPr lang="en-GB" sz="2000"/>
              <a:t>The three making up the most share of completed projects, indicating strong client demand and potential areas for continued investment </a:t>
            </a:r>
          </a:p>
          <a:p>
            <a:r>
              <a:rPr lang="en-GB" sz="2000"/>
              <a:t>Logistics and Management generate the highest total revenues</a:t>
            </a:r>
          </a:p>
          <a:p>
            <a:r>
              <a:rPr lang="en-GB" sz="2000"/>
              <a:t>Cybersecurity Development has high value per project</a:t>
            </a:r>
          </a:p>
        </p:txBody>
      </p:sp>
      <p:grpSp>
        <p:nvGrpSpPr>
          <p:cNvPr id="10" name="Group 9">
            <a:extLst>
              <a:ext uri="{FF2B5EF4-FFF2-40B4-BE49-F238E27FC236}">
                <a16:creationId xmlns:a16="http://schemas.microsoft.com/office/drawing/2014/main" id="{92EB0527-FCA2-03E1-D6C6-975B53736F66}"/>
              </a:ext>
            </a:extLst>
          </p:cNvPr>
          <p:cNvGrpSpPr/>
          <p:nvPr/>
        </p:nvGrpSpPr>
        <p:grpSpPr>
          <a:xfrm>
            <a:off x="913" y="6277105"/>
            <a:ext cx="12185197" cy="582721"/>
            <a:chOff x="913" y="6277105"/>
            <a:chExt cx="12430125" cy="582721"/>
          </a:xfrm>
        </p:grpSpPr>
        <p:sp>
          <p:nvSpPr>
            <p:cNvPr id="11" name="Rectangle 10">
              <a:extLst>
                <a:ext uri="{FF2B5EF4-FFF2-40B4-BE49-F238E27FC236}">
                  <a16:creationId xmlns:a16="http://schemas.microsoft.com/office/drawing/2014/main" id="{CFB5CFDF-C248-C838-2C8F-3FA87AEC9977}"/>
                </a:ext>
              </a:extLst>
            </p:cNvPr>
            <p:cNvSpPr/>
            <p:nvPr/>
          </p:nvSpPr>
          <p:spPr>
            <a:xfrm>
              <a:off x="913" y="6277105"/>
              <a:ext cx="12430125" cy="582721"/>
            </a:xfrm>
            <a:prstGeom prst="rect">
              <a:avLst/>
            </a:prstGeom>
            <a:solidFill>
              <a:srgbClr val="00357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a:p>
          </p:txBody>
        </p:sp>
        <p:pic>
          <p:nvPicPr>
            <p:cNvPr id="12" name="Picture 11" descr="A white line drawing of a duck&#10;&#10;AI-generated content may be incorrect.">
              <a:extLst>
                <a:ext uri="{FF2B5EF4-FFF2-40B4-BE49-F238E27FC236}">
                  <a16:creationId xmlns:a16="http://schemas.microsoft.com/office/drawing/2014/main" id="{1E3B0809-60B0-CC0A-D938-DEF4D5A3378E}"/>
                </a:ext>
              </a:extLst>
            </p:cNvPr>
            <p:cNvPicPr>
              <a:picLocks noChangeAspect="1"/>
            </p:cNvPicPr>
            <p:nvPr/>
          </p:nvPicPr>
          <p:blipFill>
            <a:blip r:embed="rId2"/>
            <a:srcRect l="16269" t="50000" r="60000"/>
            <a:stretch>
              <a:fillRect/>
            </a:stretch>
          </p:blipFill>
          <p:spPr>
            <a:xfrm>
              <a:off x="1243" y="6296025"/>
              <a:ext cx="495962" cy="561975"/>
            </a:xfrm>
            <a:prstGeom prst="rect">
              <a:avLst/>
            </a:prstGeom>
            <a:ln>
              <a:noFill/>
            </a:ln>
          </p:spPr>
        </p:pic>
      </p:grpSp>
    </p:spTree>
    <p:extLst>
      <p:ext uri="{BB962C8B-B14F-4D97-AF65-F5344CB8AC3E}">
        <p14:creationId xmlns:p14="http://schemas.microsoft.com/office/powerpoint/2010/main" val="3269795938"/>
      </p:ext>
    </p:extLst>
  </p:cSld>
  <p:clrMapOvr>
    <a:masterClrMapping/>
  </p:clrMapOvr>
  <p:transition spd="med">
    <p:pull/>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9E92CD-5D68-46B1-EE8F-3FB28630EAC2}"/>
              </a:ext>
            </a:extLst>
          </p:cNvPr>
          <p:cNvSpPr>
            <a:spLocks noGrp="1"/>
          </p:cNvSpPr>
          <p:nvPr>
            <p:ph type="title"/>
          </p:nvPr>
        </p:nvSpPr>
        <p:spPr/>
        <p:txBody>
          <a:bodyPr/>
          <a:lstStyle/>
          <a:p>
            <a:r>
              <a:rPr lang="en-GB"/>
              <a:t>Sales Trends</a:t>
            </a:r>
          </a:p>
        </p:txBody>
      </p:sp>
      <p:pic>
        <p:nvPicPr>
          <p:cNvPr id="5" name="Content Placeholder 4" descr="A graph showing the growth of a project&#10;&#10;AI-generated content may be incorrect.">
            <a:extLst>
              <a:ext uri="{FF2B5EF4-FFF2-40B4-BE49-F238E27FC236}">
                <a16:creationId xmlns:a16="http://schemas.microsoft.com/office/drawing/2014/main" id="{24085D36-80B5-26BE-7532-939DCC5A1E48}"/>
              </a:ext>
            </a:extLst>
          </p:cNvPr>
          <p:cNvPicPr>
            <a:picLocks noGrp="1" noChangeAspect="1"/>
          </p:cNvPicPr>
          <p:nvPr>
            <p:ph sz="half" idx="2"/>
          </p:nvPr>
        </p:nvPicPr>
        <p:blipFill>
          <a:blip r:embed="rId2"/>
          <a:stretch>
            <a:fillRect/>
          </a:stretch>
        </p:blipFill>
        <p:spPr>
          <a:xfrm>
            <a:off x="530397" y="1894099"/>
            <a:ext cx="7712989" cy="4133762"/>
          </a:xfrm>
          <a:prstGeom prst="rect">
            <a:avLst/>
          </a:prstGeom>
        </p:spPr>
      </p:pic>
      <p:sp>
        <p:nvSpPr>
          <p:cNvPr id="7" name="TextBox 6">
            <a:extLst>
              <a:ext uri="{FF2B5EF4-FFF2-40B4-BE49-F238E27FC236}">
                <a16:creationId xmlns:a16="http://schemas.microsoft.com/office/drawing/2014/main" id="{CCC3A967-9934-51A7-55F1-5CA9496ED289}"/>
              </a:ext>
            </a:extLst>
          </p:cNvPr>
          <p:cNvSpPr txBox="1"/>
          <p:nvPr/>
        </p:nvSpPr>
        <p:spPr>
          <a:xfrm>
            <a:off x="8527356" y="2684280"/>
            <a:ext cx="3431528" cy="255454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Arial"/>
              <a:buChar char="•"/>
            </a:pPr>
            <a:r>
              <a:rPr lang="en-GB" sz="2000">
                <a:latin typeface="Aptos"/>
                <a:cs typeface="Arial"/>
              </a:rPr>
              <a:t> Total revenue 2021-2026: €505,879</a:t>
            </a:r>
            <a:endParaRPr lang="en-US" sz="2000"/>
          </a:p>
          <a:p>
            <a:pPr marL="342900" indent="-342900">
              <a:buFont typeface="Arial"/>
              <a:buChar char="•"/>
            </a:pPr>
            <a:r>
              <a:rPr lang="en-GB" sz="2000">
                <a:latin typeface="Aptos"/>
                <a:cs typeface="Arial"/>
              </a:rPr>
              <a:t>Surge in consultations in 2025, 167 projects in total = €246,6057</a:t>
            </a:r>
          </a:p>
          <a:p>
            <a:pPr marL="342900" indent="-342900">
              <a:buFont typeface="Arial"/>
              <a:buChar char="•"/>
            </a:pPr>
            <a:r>
              <a:rPr lang="en-GB" sz="2000">
                <a:latin typeface="Aptos"/>
                <a:cs typeface="Arial"/>
              </a:rPr>
              <a:t> Projects in 2026  still ongoing so total revenue TBC</a:t>
            </a:r>
          </a:p>
        </p:txBody>
      </p:sp>
      <p:grpSp>
        <p:nvGrpSpPr>
          <p:cNvPr id="8" name="Group 7">
            <a:extLst>
              <a:ext uri="{FF2B5EF4-FFF2-40B4-BE49-F238E27FC236}">
                <a16:creationId xmlns:a16="http://schemas.microsoft.com/office/drawing/2014/main" id="{D3D82382-3043-9380-F5E2-3313C42A33C4}"/>
              </a:ext>
            </a:extLst>
          </p:cNvPr>
          <p:cNvGrpSpPr/>
          <p:nvPr/>
        </p:nvGrpSpPr>
        <p:grpSpPr>
          <a:xfrm>
            <a:off x="913" y="6277105"/>
            <a:ext cx="12185197" cy="582721"/>
            <a:chOff x="913" y="6277105"/>
            <a:chExt cx="12430125" cy="582721"/>
          </a:xfrm>
        </p:grpSpPr>
        <p:sp>
          <p:nvSpPr>
            <p:cNvPr id="4" name="Rectangle 3">
              <a:extLst>
                <a:ext uri="{FF2B5EF4-FFF2-40B4-BE49-F238E27FC236}">
                  <a16:creationId xmlns:a16="http://schemas.microsoft.com/office/drawing/2014/main" id="{85C5CB91-6CAF-CDE8-31B0-B98847B7F9E0}"/>
                </a:ext>
              </a:extLst>
            </p:cNvPr>
            <p:cNvSpPr/>
            <p:nvPr/>
          </p:nvSpPr>
          <p:spPr>
            <a:xfrm>
              <a:off x="913" y="6277105"/>
              <a:ext cx="12430125" cy="582721"/>
            </a:xfrm>
            <a:prstGeom prst="rect">
              <a:avLst/>
            </a:prstGeom>
            <a:solidFill>
              <a:srgbClr val="00357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a:p>
          </p:txBody>
        </p:sp>
        <p:pic>
          <p:nvPicPr>
            <p:cNvPr id="6" name="Picture 5" descr="A white line drawing of a duck&#10;&#10;AI-generated content may be incorrect.">
              <a:extLst>
                <a:ext uri="{FF2B5EF4-FFF2-40B4-BE49-F238E27FC236}">
                  <a16:creationId xmlns:a16="http://schemas.microsoft.com/office/drawing/2014/main" id="{F2AC4882-B8D2-3BD6-FB04-F406276E027D}"/>
                </a:ext>
              </a:extLst>
            </p:cNvPr>
            <p:cNvPicPr>
              <a:picLocks noChangeAspect="1"/>
            </p:cNvPicPr>
            <p:nvPr/>
          </p:nvPicPr>
          <p:blipFill>
            <a:blip r:embed="rId3"/>
            <a:srcRect l="16269" t="50000" r="60000"/>
            <a:stretch>
              <a:fillRect/>
            </a:stretch>
          </p:blipFill>
          <p:spPr>
            <a:xfrm>
              <a:off x="1243" y="6296025"/>
              <a:ext cx="495962" cy="561975"/>
            </a:xfrm>
            <a:prstGeom prst="rect">
              <a:avLst/>
            </a:prstGeom>
            <a:ln>
              <a:noFill/>
            </a:ln>
          </p:spPr>
        </p:pic>
      </p:grpSp>
    </p:spTree>
    <p:extLst>
      <p:ext uri="{BB962C8B-B14F-4D97-AF65-F5344CB8AC3E}">
        <p14:creationId xmlns:p14="http://schemas.microsoft.com/office/powerpoint/2010/main" val="3379730727"/>
      </p:ext>
    </p:extLst>
  </p:cSld>
  <p:clrMapOvr>
    <a:masterClrMapping/>
  </p:clrMapOvr>
  <p:transition spd="med">
    <p:pull/>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699B50-B1FF-20C8-B9DE-C187063EC0B8}"/>
              </a:ext>
            </a:extLst>
          </p:cNvPr>
          <p:cNvSpPr>
            <a:spLocks noGrp="1"/>
          </p:cNvSpPr>
          <p:nvPr>
            <p:ph type="title"/>
          </p:nvPr>
        </p:nvSpPr>
        <p:spPr/>
        <p:txBody>
          <a:bodyPr/>
          <a:lstStyle/>
          <a:p>
            <a:r>
              <a:rPr lang="en-GB"/>
              <a:t>Service Revenue</a:t>
            </a:r>
          </a:p>
        </p:txBody>
      </p:sp>
      <p:sp>
        <p:nvSpPr>
          <p:cNvPr id="6" name="TextBox 5">
            <a:extLst>
              <a:ext uri="{FF2B5EF4-FFF2-40B4-BE49-F238E27FC236}">
                <a16:creationId xmlns:a16="http://schemas.microsoft.com/office/drawing/2014/main" id="{5A32C69B-9777-D784-81CE-E1C33772C6B7}"/>
              </a:ext>
            </a:extLst>
          </p:cNvPr>
          <p:cNvSpPr txBox="1"/>
          <p:nvPr/>
        </p:nvSpPr>
        <p:spPr>
          <a:xfrm>
            <a:off x="332475" y="2345922"/>
            <a:ext cx="4199163" cy="218521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Arial"/>
              <a:buChar char="•"/>
            </a:pPr>
            <a:r>
              <a:rPr lang="en-GB" sz="2000">
                <a:latin typeface="Aptos"/>
                <a:cs typeface="Arial"/>
              </a:rPr>
              <a:t>Average number of hours sold across all services is 3,590.4hrs.  </a:t>
            </a:r>
            <a:endParaRPr lang="en-US" sz="2000">
              <a:latin typeface="Aptos"/>
              <a:cs typeface="Arial"/>
            </a:endParaRPr>
          </a:p>
          <a:p>
            <a:pPr marL="342900" indent="-342900">
              <a:buFont typeface="Arial"/>
              <a:buChar char="•"/>
            </a:pPr>
            <a:r>
              <a:rPr lang="en-GB" sz="2000" b="1">
                <a:latin typeface="Aptos"/>
                <a:cs typeface="Arial"/>
              </a:rPr>
              <a:t>Highest amount</a:t>
            </a:r>
            <a:r>
              <a:rPr lang="en-GB" sz="2000">
                <a:latin typeface="Aptos"/>
                <a:cs typeface="Arial"/>
              </a:rPr>
              <a:t> of hour sold: Logistics </a:t>
            </a:r>
            <a:endParaRPr lang="en-US" sz="2000"/>
          </a:p>
          <a:p>
            <a:pPr marL="342900" indent="-342900">
              <a:buFont typeface="Arial"/>
              <a:buChar char="•"/>
            </a:pPr>
            <a:r>
              <a:rPr lang="en-GB" sz="2000" b="1">
                <a:latin typeface="Aptos"/>
                <a:cs typeface="Arial"/>
              </a:rPr>
              <a:t>Lowest revenue</a:t>
            </a:r>
            <a:r>
              <a:rPr lang="en-GB" sz="2000">
                <a:latin typeface="Aptos"/>
                <a:cs typeface="Arial"/>
              </a:rPr>
              <a:t>: Film &amp; TV </a:t>
            </a:r>
          </a:p>
          <a:p>
            <a:br>
              <a:rPr lang="en-US"/>
            </a:br>
            <a:endParaRPr lang="en-US"/>
          </a:p>
        </p:txBody>
      </p:sp>
      <p:grpSp>
        <p:nvGrpSpPr>
          <p:cNvPr id="8" name="Group 7">
            <a:extLst>
              <a:ext uri="{FF2B5EF4-FFF2-40B4-BE49-F238E27FC236}">
                <a16:creationId xmlns:a16="http://schemas.microsoft.com/office/drawing/2014/main" id="{347B6B66-8722-3518-5AF5-83A89D5F81E4}"/>
              </a:ext>
            </a:extLst>
          </p:cNvPr>
          <p:cNvGrpSpPr/>
          <p:nvPr/>
        </p:nvGrpSpPr>
        <p:grpSpPr>
          <a:xfrm>
            <a:off x="913" y="6277105"/>
            <a:ext cx="12212411" cy="582721"/>
            <a:chOff x="913" y="6277105"/>
            <a:chExt cx="12430125" cy="582721"/>
          </a:xfrm>
        </p:grpSpPr>
        <p:sp>
          <p:nvSpPr>
            <p:cNvPr id="4" name="Rectangle 3">
              <a:extLst>
                <a:ext uri="{FF2B5EF4-FFF2-40B4-BE49-F238E27FC236}">
                  <a16:creationId xmlns:a16="http://schemas.microsoft.com/office/drawing/2014/main" id="{E13FD64A-FD19-D95C-551C-99D8831498F6}"/>
                </a:ext>
              </a:extLst>
            </p:cNvPr>
            <p:cNvSpPr/>
            <p:nvPr/>
          </p:nvSpPr>
          <p:spPr>
            <a:xfrm>
              <a:off x="913" y="6277105"/>
              <a:ext cx="12430125" cy="582721"/>
            </a:xfrm>
            <a:prstGeom prst="rect">
              <a:avLst/>
            </a:prstGeom>
            <a:solidFill>
              <a:srgbClr val="00357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a:p>
          </p:txBody>
        </p:sp>
        <p:pic>
          <p:nvPicPr>
            <p:cNvPr id="7" name="Picture 6" descr="A white line drawing of a duck&#10;&#10;AI-generated content may be incorrect.">
              <a:extLst>
                <a:ext uri="{FF2B5EF4-FFF2-40B4-BE49-F238E27FC236}">
                  <a16:creationId xmlns:a16="http://schemas.microsoft.com/office/drawing/2014/main" id="{D8D94004-8603-1C48-527C-31AA47BBCF6E}"/>
                </a:ext>
              </a:extLst>
            </p:cNvPr>
            <p:cNvPicPr>
              <a:picLocks noChangeAspect="1"/>
            </p:cNvPicPr>
            <p:nvPr/>
          </p:nvPicPr>
          <p:blipFill>
            <a:blip r:embed="rId2"/>
            <a:srcRect l="16269" t="50000" r="60000"/>
            <a:stretch>
              <a:fillRect/>
            </a:stretch>
          </p:blipFill>
          <p:spPr>
            <a:xfrm>
              <a:off x="1243" y="6296025"/>
              <a:ext cx="495962" cy="561975"/>
            </a:xfrm>
            <a:prstGeom prst="rect">
              <a:avLst/>
            </a:prstGeom>
            <a:ln>
              <a:noFill/>
            </a:ln>
          </p:spPr>
        </p:pic>
      </p:grpSp>
      <p:pic>
        <p:nvPicPr>
          <p:cNvPr id="17" name="Content Placeholder 16">
            <a:extLst>
              <a:ext uri="{FF2B5EF4-FFF2-40B4-BE49-F238E27FC236}">
                <a16:creationId xmlns:a16="http://schemas.microsoft.com/office/drawing/2014/main" id="{A8EF37D7-D534-FD1D-CC78-999F6CAD6887}"/>
              </a:ext>
            </a:extLst>
          </p:cNvPr>
          <p:cNvPicPr>
            <a:picLocks noGrp="1" noChangeAspect="1"/>
          </p:cNvPicPr>
          <p:nvPr>
            <p:ph sz="half" idx="2"/>
          </p:nvPr>
        </p:nvPicPr>
        <p:blipFill>
          <a:blip r:embed="rId3"/>
          <a:stretch>
            <a:fillRect/>
          </a:stretch>
        </p:blipFill>
        <p:spPr>
          <a:xfrm>
            <a:off x="4893128" y="1329573"/>
            <a:ext cx="7100207" cy="4812764"/>
          </a:xfrm>
          <a:prstGeom prst="rect">
            <a:avLst/>
          </a:prstGeom>
        </p:spPr>
      </p:pic>
    </p:spTree>
    <p:extLst>
      <p:ext uri="{BB962C8B-B14F-4D97-AF65-F5344CB8AC3E}">
        <p14:creationId xmlns:p14="http://schemas.microsoft.com/office/powerpoint/2010/main" val="2867120247"/>
      </p:ext>
    </p:extLst>
  </p:cSld>
  <p:clrMapOvr>
    <a:masterClrMapping/>
  </p:clrMapOvr>
  <p:transition spd="med">
    <p:pull/>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E0ADFB-4D88-1A55-07C0-DC0B743F440E}"/>
              </a:ext>
            </a:extLst>
          </p:cNvPr>
          <p:cNvSpPr>
            <a:spLocks noGrp="1"/>
          </p:cNvSpPr>
          <p:nvPr>
            <p:ph type="ctrTitle"/>
          </p:nvPr>
        </p:nvSpPr>
        <p:spPr>
          <a:xfrm>
            <a:off x="553811" y="432481"/>
            <a:ext cx="6803572" cy="999672"/>
          </a:xfrm>
        </p:spPr>
        <p:txBody>
          <a:bodyPr>
            <a:normAutofit/>
          </a:bodyPr>
          <a:lstStyle/>
          <a:p>
            <a:pPr algn="l"/>
            <a:r>
              <a:rPr lang="en-GB" sz="4400"/>
              <a:t>Client Retention Rates</a:t>
            </a:r>
            <a:endParaRPr lang="en-US"/>
          </a:p>
        </p:txBody>
      </p:sp>
      <p:sp>
        <p:nvSpPr>
          <p:cNvPr id="6" name="TextBox 5">
            <a:extLst>
              <a:ext uri="{FF2B5EF4-FFF2-40B4-BE49-F238E27FC236}">
                <a16:creationId xmlns:a16="http://schemas.microsoft.com/office/drawing/2014/main" id="{DCF5F39E-4F3B-45B4-8E9D-CCF0BB272A37}"/>
              </a:ext>
            </a:extLst>
          </p:cNvPr>
          <p:cNvSpPr txBox="1"/>
          <p:nvPr/>
        </p:nvSpPr>
        <p:spPr>
          <a:xfrm>
            <a:off x="6424832" y="1692846"/>
            <a:ext cx="5781530" cy="276998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000">
                <a:latin typeface="Aptos"/>
                <a:cs typeface="Arial"/>
              </a:rPr>
              <a:t>1.38 Average returns per client</a:t>
            </a:r>
            <a:endParaRPr lang="en-US" sz="2000">
              <a:latin typeface="Aptos"/>
              <a:cs typeface="Arial"/>
            </a:endParaRPr>
          </a:p>
          <a:p>
            <a:pPr marL="342900" indent="-342900">
              <a:buFont typeface="Arial"/>
              <a:buChar char="•"/>
            </a:pPr>
            <a:r>
              <a:rPr lang="en-GB" sz="2000">
                <a:latin typeface="Aptos"/>
                <a:cs typeface="Arial"/>
              </a:rPr>
              <a:t>221 clients worked on 1 project</a:t>
            </a:r>
          </a:p>
          <a:p>
            <a:pPr marL="342900" indent="-342900">
              <a:buFont typeface="Arial"/>
              <a:buChar char="•"/>
            </a:pPr>
            <a:r>
              <a:rPr lang="en-GB" sz="2000">
                <a:latin typeface="Aptos"/>
                <a:cs typeface="Arial"/>
              </a:rPr>
              <a:t>82 companies had 2 or more projects</a:t>
            </a:r>
            <a:endParaRPr lang="en-US" sz="2000">
              <a:latin typeface="Aptos"/>
              <a:cs typeface="Arial"/>
            </a:endParaRPr>
          </a:p>
          <a:p>
            <a:pPr marL="342900" indent="-342900">
              <a:buFont typeface="Arial"/>
              <a:buChar char="•"/>
            </a:pPr>
            <a:r>
              <a:rPr lang="en-GB" sz="2000">
                <a:latin typeface="Aptos"/>
                <a:cs typeface="Arial"/>
              </a:rPr>
              <a:t>Financial services have clients with the highest volume of returns</a:t>
            </a:r>
          </a:p>
          <a:p>
            <a:pPr marL="342900" indent="-342900">
              <a:buFont typeface="Arial"/>
              <a:buChar char="•"/>
            </a:pPr>
            <a:r>
              <a:rPr lang="en-GB" sz="2000">
                <a:cs typeface="Arial"/>
              </a:rPr>
              <a:t>CLNT0001 highest number of projects with EG</a:t>
            </a:r>
          </a:p>
          <a:p>
            <a:br>
              <a:rPr lang="en-US"/>
            </a:br>
            <a:endParaRPr lang="en-US"/>
          </a:p>
          <a:p>
            <a:endParaRPr lang="en-US"/>
          </a:p>
        </p:txBody>
      </p:sp>
      <p:grpSp>
        <p:nvGrpSpPr>
          <p:cNvPr id="8" name="Group 7">
            <a:extLst>
              <a:ext uri="{FF2B5EF4-FFF2-40B4-BE49-F238E27FC236}">
                <a16:creationId xmlns:a16="http://schemas.microsoft.com/office/drawing/2014/main" id="{6C838762-BD5A-BFB7-AB4B-D449511A0BEF}"/>
              </a:ext>
            </a:extLst>
          </p:cNvPr>
          <p:cNvGrpSpPr/>
          <p:nvPr/>
        </p:nvGrpSpPr>
        <p:grpSpPr>
          <a:xfrm>
            <a:off x="913" y="6277105"/>
            <a:ext cx="12198804" cy="582721"/>
            <a:chOff x="913" y="6277105"/>
            <a:chExt cx="12430125" cy="582721"/>
          </a:xfrm>
        </p:grpSpPr>
        <p:sp>
          <p:nvSpPr>
            <p:cNvPr id="5" name="Rectangle 4">
              <a:extLst>
                <a:ext uri="{FF2B5EF4-FFF2-40B4-BE49-F238E27FC236}">
                  <a16:creationId xmlns:a16="http://schemas.microsoft.com/office/drawing/2014/main" id="{135A9DAA-FCEF-3363-E5CF-E6CE5A38C99B}"/>
                </a:ext>
              </a:extLst>
            </p:cNvPr>
            <p:cNvSpPr/>
            <p:nvPr/>
          </p:nvSpPr>
          <p:spPr>
            <a:xfrm>
              <a:off x="913" y="6277105"/>
              <a:ext cx="12430125" cy="582721"/>
            </a:xfrm>
            <a:prstGeom prst="rect">
              <a:avLst/>
            </a:prstGeom>
            <a:solidFill>
              <a:srgbClr val="00357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a:p>
          </p:txBody>
        </p:sp>
        <p:pic>
          <p:nvPicPr>
            <p:cNvPr id="7" name="Picture 6" descr="A white line drawing of a duck&#10;&#10;AI-generated content may be incorrect.">
              <a:extLst>
                <a:ext uri="{FF2B5EF4-FFF2-40B4-BE49-F238E27FC236}">
                  <a16:creationId xmlns:a16="http://schemas.microsoft.com/office/drawing/2014/main" id="{447FB0B8-0B1E-6485-5046-5E1EB7D3637B}"/>
                </a:ext>
              </a:extLst>
            </p:cNvPr>
            <p:cNvPicPr>
              <a:picLocks noChangeAspect="1"/>
            </p:cNvPicPr>
            <p:nvPr/>
          </p:nvPicPr>
          <p:blipFill>
            <a:blip r:embed="rId2"/>
            <a:srcRect l="16269" t="50000" r="60000"/>
            <a:stretch>
              <a:fillRect/>
            </a:stretch>
          </p:blipFill>
          <p:spPr>
            <a:xfrm>
              <a:off x="1243" y="6296025"/>
              <a:ext cx="495962" cy="561975"/>
            </a:xfrm>
            <a:prstGeom prst="rect">
              <a:avLst/>
            </a:prstGeom>
            <a:ln>
              <a:noFill/>
            </a:ln>
          </p:spPr>
        </p:pic>
      </p:grpSp>
      <p:pic>
        <p:nvPicPr>
          <p:cNvPr id="10" name="Picture 9" descr="A pie chart with numbers and a number of percentages&#10;&#10;AI-generated content may be incorrect.">
            <a:extLst>
              <a:ext uri="{FF2B5EF4-FFF2-40B4-BE49-F238E27FC236}">
                <a16:creationId xmlns:a16="http://schemas.microsoft.com/office/drawing/2014/main" id="{4608C1A0-3F3E-B924-1C1B-2B771A797D84}"/>
              </a:ext>
            </a:extLst>
          </p:cNvPr>
          <p:cNvPicPr>
            <a:picLocks noChangeAspect="1"/>
          </p:cNvPicPr>
          <p:nvPr/>
        </p:nvPicPr>
        <p:blipFill>
          <a:blip r:embed="rId3"/>
          <a:srcRect l="-848" t="-214" r="24972" b="-304"/>
          <a:stretch>
            <a:fillRect/>
          </a:stretch>
        </p:blipFill>
        <p:spPr>
          <a:xfrm>
            <a:off x="0" y="1692068"/>
            <a:ext cx="6132294" cy="4580146"/>
          </a:xfrm>
          <a:prstGeom prst="rect">
            <a:avLst/>
          </a:prstGeom>
        </p:spPr>
      </p:pic>
      <p:graphicFrame>
        <p:nvGraphicFramePr>
          <p:cNvPr id="12" name="Table 11">
            <a:extLst>
              <a:ext uri="{FF2B5EF4-FFF2-40B4-BE49-F238E27FC236}">
                <a16:creationId xmlns:a16="http://schemas.microsoft.com/office/drawing/2014/main" id="{F7835116-ECBB-6E96-4378-579CBD40C823}"/>
              </a:ext>
            </a:extLst>
          </p:cNvPr>
          <p:cNvGraphicFramePr>
            <a:graphicFrameLocks noGrp="1"/>
          </p:cNvGraphicFramePr>
          <p:nvPr>
            <p:extLst>
              <p:ext uri="{D42A27DB-BD31-4B8C-83A1-F6EECF244321}">
                <p14:modId xmlns:p14="http://schemas.microsoft.com/office/powerpoint/2010/main" val="3848956743"/>
              </p:ext>
            </p:extLst>
          </p:nvPr>
        </p:nvGraphicFramePr>
        <p:xfrm>
          <a:off x="6327321" y="4150178"/>
          <a:ext cx="5448114" cy="2038650"/>
        </p:xfrm>
        <a:graphic>
          <a:graphicData uri="http://schemas.openxmlformats.org/drawingml/2006/table">
            <a:tbl>
              <a:tblPr bandRow="1">
                <a:tableStyleId>{5C22544A-7EE6-4342-B048-85BDC9FD1C3A}</a:tableStyleId>
              </a:tblPr>
              <a:tblGrid>
                <a:gridCol w="1816038">
                  <a:extLst>
                    <a:ext uri="{9D8B030D-6E8A-4147-A177-3AD203B41FA5}">
                      <a16:colId xmlns:a16="http://schemas.microsoft.com/office/drawing/2014/main" val="2225956189"/>
                    </a:ext>
                  </a:extLst>
                </a:gridCol>
                <a:gridCol w="1816038">
                  <a:extLst>
                    <a:ext uri="{9D8B030D-6E8A-4147-A177-3AD203B41FA5}">
                      <a16:colId xmlns:a16="http://schemas.microsoft.com/office/drawing/2014/main" val="3684584670"/>
                    </a:ext>
                  </a:extLst>
                </a:gridCol>
                <a:gridCol w="1816038">
                  <a:extLst>
                    <a:ext uri="{9D8B030D-6E8A-4147-A177-3AD203B41FA5}">
                      <a16:colId xmlns:a16="http://schemas.microsoft.com/office/drawing/2014/main" val="2523269034"/>
                    </a:ext>
                  </a:extLst>
                </a:gridCol>
              </a:tblGrid>
              <a:tr h="392730">
                <a:tc>
                  <a:txBody>
                    <a:bodyPr/>
                    <a:lstStyle/>
                    <a:p>
                      <a:pPr lvl="0">
                        <a:buNone/>
                      </a:pPr>
                      <a:endParaRPr lang="en-GB">
                        <a:effectLst/>
                      </a:endParaRPr>
                    </a:p>
                  </a:txBody>
                  <a:tcPr marL="0" marR="0" marT="0" marB="0" anchor="ctr">
                    <a:lnL w="0">
                      <a:noFill/>
                    </a:lnL>
                    <a:lnR w="0">
                      <a:noFill/>
                    </a:lnR>
                    <a:lnT w="0">
                      <a:noFill/>
                    </a:lnT>
                    <a:lnB w="0">
                      <a:noFill/>
                    </a:lnB>
                    <a:noFill/>
                  </a:tcPr>
                </a:tc>
                <a:tc>
                  <a:txBody>
                    <a:bodyPr/>
                    <a:lstStyle/>
                    <a:p>
                      <a:pPr>
                        <a:buNone/>
                      </a:pPr>
                      <a:r>
                        <a:rPr lang="en-GB">
                          <a:effectLst/>
                        </a:rPr>
                        <a:t>year</a:t>
                      </a:r>
                    </a:p>
                  </a:txBody>
                  <a:tcPr marL="0" marR="0" marT="0" marB="0" anchor="ctr">
                    <a:lnL>
                      <a:noFill/>
                    </a:lnL>
                    <a:lnR>
                      <a:noFill/>
                    </a:lnR>
                    <a:lnT>
                      <a:noFill/>
                    </a:lnT>
                    <a:lnB>
                      <a:noFill/>
                    </a:lnB>
                    <a:noFill/>
                  </a:tcPr>
                </a:tc>
                <a:tc>
                  <a:txBody>
                    <a:bodyPr/>
                    <a:lstStyle/>
                    <a:p>
                      <a:pPr>
                        <a:buNone/>
                      </a:pPr>
                      <a:r>
                        <a:rPr lang="en-GB">
                          <a:effectLst/>
                        </a:rPr>
                        <a:t>Onboarding fee</a:t>
                      </a:r>
                      <a:endParaRPr lang="en-GB" err="1">
                        <a:effectLst/>
                      </a:endParaRPr>
                    </a:p>
                  </a:txBody>
                  <a:tcPr marL="0" marR="0" marT="0" marB="0" anchor="ctr">
                    <a:lnL>
                      <a:noFill/>
                    </a:lnL>
                    <a:lnR>
                      <a:noFill/>
                    </a:lnR>
                    <a:lnT>
                      <a:noFill/>
                    </a:lnT>
                    <a:lnB>
                      <a:noFill/>
                    </a:lnB>
                    <a:noFill/>
                  </a:tcPr>
                </a:tc>
                <a:extLst>
                  <a:ext uri="{0D108BD9-81ED-4DB2-BD59-A6C34878D82A}">
                    <a16:rowId xmlns:a16="http://schemas.microsoft.com/office/drawing/2014/main" val="508472577"/>
                  </a:ext>
                </a:extLst>
              </a:tr>
              <a:tr h="196365">
                <a:tc>
                  <a:txBody>
                    <a:bodyPr/>
                    <a:lstStyle/>
                    <a:p>
                      <a:pPr lvl="0" algn="r">
                        <a:buNone/>
                      </a:pPr>
                      <a:endParaRPr lang="en-GB">
                        <a:effectLst/>
                      </a:endParaRPr>
                    </a:p>
                  </a:txBody>
                  <a:tcPr marL="0" marR="0" marT="0" marB="0" anchor="ctr">
                    <a:lnL w="0">
                      <a:noFill/>
                    </a:lnL>
                    <a:lnR w="0">
                      <a:noFill/>
                    </a:lnR>
                    <a:lnT w="0">
                      <a:noFill/>
                    </a:lnT>
                    <a:lnB w="0">
                      <a:noFill/>
                    </a:lnB>
                    <a:noFill/>
                  </a:tcPr>
                </a:tc>
                <a:tc>
                  <a:txBody>
                    <a:bodyPr/>
                    <a:lstStyle/>
                    <a:p>
                      <a:pPr algn="r">
                        <a:buNone/>
                      </a:pPr>
                      <a:r>
                        <a:rPr lang="en-GB">
                          <a:effectLst/>
                        </a:rPr>
                        <a:t>2021</a:t>
                      </a:r>
                    </a:p>
                  </a:txBody>
                  <a:tcPr marL="0" marR="0" marT="0" marB="0" anchor="ctr">
                    <a:lnL>
                      <a:noFill/>
                    </a:lnL>
                    <a:lnR>
                      <a:noFill/>
                    </a:lnR>
                    <a:lnT>
                      <a:noFill/>
                    </a:lnT>
                    <a:lnB>
                      <a:noFill/>
                    </a:lnB>
                    <a:noFill/>
                  </a:tcPr>
                </a:tc>
                <a:tc>
                  <a:txBody>
                    <a:bodyPr/>
                    <a:lstStyle/>
                    <a:p>
                      <a:pPr algn="r">
                        <a:buNone/>
                      </a:pPr>
                      <a:r>
                        <a:rPr lang="en-GB">
                          <a:effectLst/>
                        </a:rPr>
                        <a:t>250</a:t>
                      </a:r>
                    </a:p>
                  </a:txBody>
                  <a:tcPr marL="0" marR="0" marT="0" marB="0" anchor="ctr">
                    <a:lnL>
                      <a:noFill/>
                    </a:lnL>
                    <a:lnR>
                      <a:noFill/>
                    </a:lnR>
                    <a:lnT>
                      <a:noFill/>
                    </a:lnT>
                    <a:lnB>
                      <a:noFill/>
                    </a:lnB>
                    <a:noFill/>
                  </a:tcPr>
                </a:tc>
                <a:extLst>
                  <a:ext uri="{0D108BD9-81ED-4DB2-BD59-A6C34878D82A}">
                    <a16:rowId xmlns:a16="http://schemas.microsoft.com/office/drawing/2014/main" val="1976942227"/>
                  </a:ext>
                </a:extLst>
              </a:tr>
              <a:tr h="196365">
                <a:tc>
                  <a:txBody>
                    <a:bodyPr/>
                    <a:lstStyle/>
                    <a:p>
                      <a:pPr lvl="0" algn="r">
                        <a:buNone/>
                      </a:pPr>
                      <a:endParaRPr lang="en-GB">
                        <a:effectLst/>
                      </a:endParaRPr>
                    </a:p>
                  </a:txBody>
                  <a:tcPr marL="0" marR="0" marT="0" marB="0" anchor="ctr">
                    <a:lnL w="0">
                      <a:noFill/>
                    </a:lnL>
                    <a:lnR w="0">
                      <a:noFill/>
                    </a:lnR>
                    <a:lnT w="0">
                      <a:noFill/>
                    </a:lnT>
                    <a:lnB w="0">
                      <a:noFill/>
                    </a:lnB>
                    <a:noFill/>
                  </a:tcPr>
                </a:tc>
                <a:tc>
                  <a:txBody>
                    <a:bodyPr/>
                    <a:lstStyle/>
                    <a:p>
                      <a:pPr algn="r">
                        <a:buNone/>
                      </a:pPr>
                      <a:r>
                        <a:rPr lang="en-GB">
                          <a:effectLst/>
                        </a:rPr>
                        <a:t>2022</a:t>
                      </a:r>
                    </a:p>
                  </a:txBody>
                  <a:tcPr marL="0" marR="0" marT="0" marB="0" anchor="ctr">
                    <a:lnL>
                      <a:noFill/>
                    </a:lnL>
                    <a:lnR>
                      <a:noFill/>
                    </a:lnR>
                    <a:lnT>
                      <a:noFill/>
                    </a:lnT>
                    <a:lnB>
                      <a:noFill/>
                    </a:lnB>
                    <a:noFill/>
                  </a:tcPr>
                </a:tc>
                <a:tc>
                  <a:txBody>
                    <a:bodyPr/>
                    <a:lstStyle/>
                    <a:p>
                      <a:pPr algn="r">
                        <a:buNone/>
                      </a:pPr>
                      <a:r>
                        <a:rPr lang="en-GB">
                          <a:effectLst/>
                        </a:rPr>
                        <a:t>300</a:t>
                      </a:r>
                    </a:p>
                  </a:txBody>
                  <a:tcPr marL="0" marR="0" marT="0" marB="0" anchor="ctr">
                    <a:lnL>
                      <a:noFill/>
                    </a:lnL>
                    <a:lnR>
                      <a:noFill/>
                    </a:lnR>
                    <a:lnT>
                      <a:noFill/>
                    </a:lnT>
                    <a:lnB>
                      <a:noFill/>
                    </a:lnB>
                    <a:noFill/>
                  </a:tcPr>
                </a:tc>
                <a:extLst>
                  <a:ext uri="{0D108BD9-81ED-4DB2-BD59-A6C34878D82A}">
                    <a16:rowId xmlns:a16="http://schemas.microsoft.com/office/drawing/2014/main" val="3832068851"/>
                  </a:ext>
                </a:extLst>
              </a:tr>
              <a:tr h="196365">
                <a:tc>
                  <a:txBody>
                    <a:bodyPr/>
                    <a:lstStyle/>
                    <a:p>
                      <a:pPr lvl="0" algn="r">
                        <a:buNone/>
                      </a:pPr>
                      <a:endParaRPr lang="en-GB">
                        <a:effectLst/>
                      </a:endParaRPr>
                    </a:p>
                  </a:txBody>
                  <a:tcPr marL="0" marR="0" marT="0" marB="0" anchor="ctr">
                    <a:lnL w="0">
                      <a:noFill/>
                    </a:lnL>
                    <a:lnR w="0">
                      <a:noFill/>
                    </a:lnR>
                    <a:lnT w="0">
                      <a:noFill/>
                    </a:lnT>
                    <a:lnB w="0">
                      <a:noFill/>
                    </a:lnB>
                    <a:noFill/>
                  </a:tcPr>
                </a:tc>
                <a:tc>
                  <a:txBody>
                    <a:bodyPr/>
                    <a:lstStyle/>
                    <a:p>
                      <a:pPr algn="r">
                        <a:buNone/>
                      </a:pPr>
                      <a:r>
                        <a:rPr lang="en-GB">
                          <a:effectLst/>
                        </a:rPr>
                        <a:t>2023</a:t>
                      </a:r>
                    </a:p>
                  </a:txBody>
                  <a:tcPr marL="0" marR="0" marT="0" marB="0" anchor="ctr">
                    <a:lnL>
                      <a:noFill/>
                    </a:lnL>
                    <a:lnR>
                      <a:noFill/>
                    </a:lnR>
                    <a:lnT>
                      <a:noFill/>
                    </a:lnT>
                    <a:lnB>
                      <a:noFill/>
                    </a:lnB>
                    <a:noFill/>
                  </a:tcPr>
                </a:tc>
                <a:tc>
                  <a:txBody>
                    <a:bodyPr/>
                    <a:lstStyle/>
                    <a:p>
                      <a:pPr algn="r">
                        <a:buNone/>
                      </a:pPr>
                      <a:r>
                        <a:rPr lang="en-GB">
                          <a:effectLst/>
                        </a:rPr>
                        <a:t>380</a:t>
                      </a:r>
                    </a:p>
                  </a:txBody>
                  <a:tcPr marL="0" marR="0" marT="0" marB="0" anchor="ctr">
                    <a:lnL>
                      <a:noFill/>
                    </a:lnL>
                    <a:lnR>
                      <a:noFill/>
                    </a:lnR>
                    <a:lnT>
                      <a:noFill/>
                    </a:lnT>
                    <a:lnB>
                      <a:noFill/>
                    </a:lnB>
                    <a:noFill/>
                  </a:tcPr>
                </a:tc>
                <a:extLst>
                  <a:ext uri="{0D108BD9-81ED-4DB2-BD59-A6C34878D82A}">
                    <a16:rowId xmlns:a16="http://schemas.microsoft.com/office/drawing/2014/main" val="1830850169"/>
                  </a:ext>
                </a:extLst>
              </a:tr>
              <a:tr h="196365">
                <a:tc>
                  <a:txBody>
                    <a:bodyPr/>
                    <a:lstStyle/>
                    <a:p>
                      <a:pPr lvl="0" algn="r">
                        <a:buNone/>
                      </a:pPr>
                      <a:endParaRPr lang="en-GB">
                        <a:effectLst/>
                      </a:endParaRPr>
                    </a:p>
                  </a:txBody>
                  <a:tcPr marL="0" marR="0" marT="0" marB="0" anchor="ctr">
                    <a:lnL w="0">
                      <a:noFill/>
                    </a:lnL>
                    <a:lnR w="0">
                      <a:noFill/>
                    </a:lnR>
                    <a:lnT w="0">
                      <a:noFill/>
                    </a:lnT>
                    <a:lnB w="0">
                      <a:noFill/>
                    </a:lnB>
                    <a:noFill/>
                  </a:tcPr>
                </a:tc>
                <a:tc>
                  <a:txBody>
                    <a:bodyPr/>
                    <a:lstStyle/>
                    <a:p>
                      <a:pPr algn="r">
                        <a:buNone/>
                      </a:pPr>
                      <a:r>
                        <a:rPr lang="en-GB">
                          <a:effectLst/>
                        </a:rPr>
                        <a:t>2024</a:t>
                      </a:r>
                    </a:p>
                  </a:txBody>
                  <a:tcPr marL="0" marR="0" marT="0" marB="0" anchor="ctr">
                    <a:lnL>
                      <a:noFill/>
                    </a:lnL>
                    <a:lnR>
                      <a:noFill/>
                    </a:lnR>
                    <a:lnT>
                      <a:noFill/>
                    </a:lnT>
                    <a:lnB>
                      <a:noFill/>
                    </a:lnB>
                    <a:noFill/>
                  </a:tcPr>
                </a:tc>
                <a:tc>
                  <a:txBody>
                    <a:bodyPr/>
                    <a:lstStyle/>
                    <a:p>
                      <a:pPr algn="r">
                        <a:buNone/>
                      </a:pPr>
                      <a:r>
                        <a:rPr lang="en-GB">
                          <a:effectLst/>
                        </a:rPr>
                        <a:t>450</a:t>
                      </a:r>
                    </a:p>
                  </a:txBody>
                  <a:tcPr marL="0" marR="0" marT="0" marB="0" anchor="ctr">
                    <a:lnL>
                      <a:noFill/>
                    </a:lnL>
                    <a:lnR>
                      <a:noFill/>
                    </a:lnR>
                    <a:lnT>
                      <a:noFill/>
                    </a:lnT>
                    <a:lnB>
                      <a:noFill/>
                    </a:lnB>
                    <a:noFill/>
                  </a:tcPr>
                </a:tc>
                <a:extLst>
                  <a:ext uri="{0D108BD9-81ED-4DB2-BD59-A6C34878D82A}">
                    <a16:rowId xmlns:a16="http://schemas.microsoft.com/office/drawing/2014/main" val="1519190458"/>
                  </a:ext>
                </a:extLst>
              </a:tr>
              <a:tr h="196365">
                <a:tc>
                  <a:txBody>
                    <a:bodyPr/>
                    <a:lstStyle/>
                    <a:p>
                      <a:pPr lvl="0" algn="r">
                        <a:buNone/>
                      </a:pPr>
                      <a:endParaRPr lang="en-GB">
                        <a:effectLst/>
                      </a:endParaRPr>
                    </a:p>
                  </a:txBody>
                  <a:tcPr marL="0" marR="0" marT="0" marB="0" anchor="ctr">
                    <a:lnL w="0">
                      <a:noFill/>
                    </a:lnL>
                    <a:lnR w="0">
                      <a:noFill/>
                    </a:lnR>
                    <a:lnT w="0">
                      <a:noFill/>
                    </a:lnT>
                    <a:lnB w="0">
                      <a:noFill/>
                    </a:lnB>
                    <a:noFill/>
                  </a:tcPr>
                </a:tc>
                <a:tc>
                  <a:txBody>
                    <a:bodyPr/>
                    <a:lstStyle/>
                    <a:p>
                      <a:pPr algn="r">
                        <a:buNone/>
                      </a:pPr>
                      <a:r>
                        <a:rPr lang="en-GB">
                          <a:effectLst/>
                        </a:rPr>
                        <a:t>2025</a:t>
                      </a:r>
                    </a:p>
                  </a:txBody>
                  <a:tcPr marL="0" marR="0" marT="0" marB="0" anchor="ctr">
                    <a:lnL>
                      <a:noFill/>
                    </a:lnL>
                    <a:lnR>
                      <a:noFill/>
                    </a:lnR>
                    <a:lnT>
                      <a:noFill/>
                    </a:lnT>
                    <a:lnB>
                      <a:noFill/>
                    </a:lnB>
                    <a:noFill/>
                  </a:tcPr>
                </a:tc>
                <a:tc>
                  <a:txBody>
                    <a:bodyPr/>
                    <a:lstStyle/>
                    <a:p>
                      <a:pPr algn="r">
                        <a:buNone/>
                      </a:pPr>
                      <a:r>
                        <a:rPr lang="en-GB">
                          <a:effectLst/>
                        </a:rPr>
                        <a:t>510</a:t>
                      </a:r>
                    </a:p>
                  </a:txBody>
                  <a:tcPr marL="0" marR="0" marT="0" marB="0" anchor="ctr">
                    <a:lnL>
                      <a:noFill/>
                    </a:lnL>
                    <a:lnR>
                      <a:noFill/>
                    </a:lnR>
                    <a:lnT>
                      <a:noFill/>
                    </a:lnT>
                    <a:lnB>
                      <a:noFill/>
                    </a:lnB>
                    <a:noFill/>
                  </a:tcPr>
                </a:tc>
                <a:extLst>
                  <a:ext uri="{0D108BD9-81ED-4DB2-BD59-A6C34878D82A}">
                    <a16:rowId xmlns:a16="http://schemas.microsoft.com/office/drawing/2014/main" val="204471270"/>
                  </a:ext>
                </a:extLst>
              </a:tr>
              <a:tr h="196365">
                <a:tc>
                  <a:txBody>
                    <a:bodyPr/>
                    <a:lstStyle/>
                    <a:p>
                      <a:pPr lvl="0" algn="r">
                        <a:buNone/>
                      </a:pPr>
                      <a:endParaRPr lang="en-GB">
                        <a:effectLst/>
                      </a:endParaRPr>
                    </a:p>
                  </a:txBody>
                  <a:tcPr marL="0" marR="0" marT="0" marB="0" anchor="ctr">
                    <a:lnL w="0">
                      <a:noFill/>
                    </a:lnL>
                    <a:lnR w="0">
                      <a:noFill/>
                    </a:lnR>
                    <a:lnT w="0">
                      <a:noFill/>
                    </a:lnT>
                    <a:lnB w="0">
                      <a:noFill/>
                    </a:lnB>
                    <a:noFill/>
                  </a:tcPr>
                </a:tc>
                <a:tc>
                  <a:txBody>
                    <a:bodyPr/>
                    <a:lstStyle/>
                    <a:p>
                      <a:pPr algn="r">
                        <a:buNone/>
                      </a:pPr>
                      <a:r>
                        <a:rPr lang="en-GB">
                          <a:effectLst/>
                        </a:rPr>
                        <a:t>2026</a:t>
                      </a:r>
                    </a:p>
                  </a:txBody>
                  <a:tcPr marL="0" marR="0" marT="0" marB="0" anchor="ctr">
                    <a:lnL>
                      <a:noFill/>
                    </a:lnL>
                    <a:lnR>
                      <a:noFill/>
                    </a:lnR>
                    <a:lnT>
                      <a:noFill/>
                    </a:lnT>
                    <a:lnB>
                      <a:noFill/>
                    </a:lnB>
                    <a:noFill/>
                  </a:tcPr>
                </a:tc>
                <a:tc>
                  <a:txBody>
                    <a:bodyPr/>
                    <a:lstStyle/>
                    <a:p>
                      <a:pPr algn="r">
                        <a:buNone/>
                      </a:pPr>
                      <a:r>
                        <a:rPr lang="en-GB">
                          <a:effectLst/>
                        </a:rPr>
                        <a:t>510</a:t>
                      </a:r>
                    </a:p>
                  </a:txBody>
                  <a:tcPr marL="0" marR="0" marT="0" marB="0" anchor="ctr">
                    <a:lnL>
                      <a:noFill/>
                    </a:lnL>
                    <a:lnR>
                      <a:noFill/>
                    </a:lnR>
                    <a:lnT>
                      <a:noFill/>
                    </a:lnT>
                    <a:lnB>
                      <a:noFill/>
                    </a:lnB>
                    <a:noFill/>
                  </a:tcPr>
                </a:tc>
                <a:extLst>
                  <a:ext uri="{0D108BD9-81ED-4DB2-BD59-A6C34878D82A}">
                    <a16:rowId xmlns:a16="http://schemas.microsoft.com/office/drawing/2014/main" val="2410843663"/>
                  </a:ext>
                </a:extLst>
              </a:tr>
            </a:tbl>
          </a:graphicData>
        </a:graphic>
      </p:graphicFrame>
    </p:spTree>
    <p:extLst>
      <p:ext uri="{BB962C8B-B14F-4D97-AF65-F5344CB8AC3E}">
        <p14:creationId xmlns:p14="http://schemas.microsoft.com/office/powerpoint/2010/main" val="2270306130"/>
      </p:ext>
    </p:extLst>
  </p:cSld>
  <p:clrMapOvr>
    <a:masterClrMapping/>
  </p:clrMapOvr>
  <p:transition spd="med">
    <p:pull/>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FE1F31-DDA0-B09D-8A6B-73D2B3B72875}"/>
              </a:ext>
            </a:extLst>
          </p:cNvPr>
          <p:cNvSpPr>
            <a:spLocks noGrp="1"/>
          </p:cNvSpPr>
          <p:nvPr>
            <p:ph type="title"/>
          </p:nvPr>
        </p:nvSpPr>
        <p:spPr/>
        <p:txBody>
          <a:bodyPr/>
          <a:lstStyle/>
          <a:p>
            <a:r>
              <a:rPr lang="en-GB" sz="4000"/>
              <a:t>Consultants:</a:t>
            </a:r>
            <a:r>
              <a:rPr lang="en-GB"/>
              <a:t> Location and Time Employed</a:t>
            </a:r>
          </a:p>
        </p:txBody>
      </p:sp>
      <p:pic>
        <p:nvPicPr>
          <p:cNvPr id="4" name="Content Placeholder 3" descr="A graph of different colored bars&#10;&#10;AI-generated content may be incorrect.">
            <a:extLst>
              <a:ext uri="{FF2B5EF4-FFF2-40B4-BE49-F238E27FC236}">
                <a16:creationId xmlns:a16="http://schemas.microsoft.com/office/drawing/2014/main" id="{DC17197D-D554-C5F8-D35C-3671DC6D2A31}"/>
              </a:ext>
            </a:extLst>
          </p:cNvPr>
          <p:cNvPicPr>
            <a:picLocks noGrp="1" noChangeAspect="1"/>
          </p:cNvPicPr>
          <p:nvPr>
            <p:ph idx="1"/>
          </p:nvPr>
        </p:nvPicPr>
        <p:blipFill>
          <a:blip r:embed="rId2"/>
          <a:stretch>
            <a:fillRect/>
          </a:stretch>
        </p:blipFill>
        <p:spPr>
          <a:xfrm>
            <a:off x="840035" y="1715294"/>
            <a:ext cx="5882780" cy="4114800"/>
          </a:xfrm>
          <a:prstGeom prst="rect">
            <a:avLst/>
          </a:prstGeom>
        </p:spPr>
      </p:pic>
      <p:sp>
        <p:nvSpPr>
          <p:cNvPr id="3" name="TextBox 2">
            <a:extLst>
              <a:ext uri="{FF2B5EF4-FFF2-40B4-BE49-F238E27FC236}">
                <a16:creationId xmlns:a16="http://schemas.microsoft.com/office/drawing/2014/main" id="{05A6FCC8-BFEF-BF40-D17C-0E7D8CC5A502}"/>
              </a:ext>
            </a:extLst>
          </p:cNvPr>
          <p:cNvSpPr txBox="1"/>
          <p:nvPr/>
        </p:nvSpPr>
        <p:spPr>
          <a:xfrm>
            <a:off x="7703507" y="1691013"/>
            <a:ext cx="3653424" cy="34163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GB"/>
              <a:t>Most based in UK and Ireland</a:t>
            </a:r>
          </a:p>
          <a:p>
            <a:pPr marL="285750" indent="-285750">
              <a:buFont typeface="Arial"/>
              <a:buChar char="•"/>
            </a:pPr>
            <a:r>
              <a:rPr lang="en-GB"/>
              <a:t>UAE brought on in the last 6 months</a:t>
            </a:r>
          </a:p>
          <a:p>
            <a:pPr marL="285750" indent="-285750">
              <a:buFont typeface="Arial"/>
              <a:buChar char="•"/>
            </a:pPr>
            <a:r>
              <a:rPr lang="en-GB"/>
              <a:t>Top consultant performance are those based in Ireland and UK but also Spain and France</a:t>
            </a:r>
          </a:p>
          <a:p>
            <a:pPr marL="285750" indent="-285750">
              <a:buFont typeface="Arial"/>
              <a:buChar char="•"/>
            </a:pPr>
            <a:endParaRPr lang="en-GB"/>
          </a:p>
          <a:p>
            <a:pPr marL="285750" indent="-285750">
              <a:buFont typeface="Arial"/>
              <a:buChar char="•"/>
            </a:pPr>
            <a:r>
              <a:rPr lang="en-GB"/>
              <a:t>Average of 1211 hours billed across all consultants, low of 59, high of 4580 </a:t>
            </a:r>
          </a:p>
          <a:p>
            <a:pPr marL="285750" indent="-285750">
              <a:buFont typeface="Arial"/>
              <a:buChar char="•"/>
            </a:pPr>
            <a:r>
              <a:rPr lang="en-GB"/>
              <a:t>95.8 hours per project billed average</a:t>
            </a:r>
          </a:p>
        </p:txBody>
      </p:sp>
      <p:pic>
        <p:nvPicPr>
          <p:cNvPr id="6" name="Picture 5" descr="A white line drawing of a duck&#10;&#10;AI-generated content may be incorrect.">
            <a:extLst>
              <a:ext uri="{FF2B5EF4-FFF2-40B4-BE49-F238E27FC236}">
                <a16:creationId xmlns:a16="http://schemas.microsoft.com/office/drawing/2014/main" id="{F0156F13-F041-E084-7A98-47F104B32E2C}"/>
              </a:ext>
            </a:extLst>
          </p:cNvPr>
          <p:cNvPicPr>
            <a:picLocks noChangeAspect="1"/>
          </p:cNvPicPr>
          <p:nvPr/>
        </p:nvPicPr>
        <p:blipFill>
          <a:blip r:embed="rId3"/>
          <a:srcRect l="16269" t="50000" r="60000"/>
          <a:stretch>
            <a:fillRect/>
          </a:stretch>
        </p:blipFill>
        <p:spPr>
          <a:xfrm>
            <a:off x="10768" y="6315075"/>
            <a:ext cx="495962" cy="561975"/>
          </a:xfrm>
          <a:prstGeom prst="rect">
            <a:avLst/>
          </a:prstGeom>
        </p:spPr>
      </p:pic>
      <p:pic>
        <p:nvPicPr>
          <p:cNvPr id="10" name="Picture 9" descr="A white line drawing of a duck&#10;&#10;AI-generated content may be incorrect.">
            <a:extLst>
              <a:ext uri="{FF2B5EF4-FFF2-40B4-BE49-F238E27FC236}">
                <a16:creationId xmlns:a16="http://schemas.microsoft.com/office/drawing/2014/main" id="{91167413-8A5D-1F26-980D-6132ED65A9ED}"/>
              </a:ext>
            </a:extLst>
          </p:cNvPr>
          <p:cNvPicPr>
            <a:picLocks noChangeAspect="1"/>
          </p:cNvPicPr>
          <p:nvPr/>
        </p:nvPicPr>
        <p:blipFill>
          <a:blip r:embed="rId3"/>
          <a:srcRect l="16269" t="50000" r="60000"/>
          <a:stretch>
            <a:fillRect/>
          </a:stretch>
        </p:blipFill>
        <p:spPr>
          <a:xfrm>
            <a:off x="1237" y="6321873"/>
            <a:ext cx="487051" cy="549305"/>
          </a:xfrm>
          <a:prstGeom prst="rect">
            <a:avLst/>
          </a:prstGeom>
          <a:ln>
            <a:noFill/>
          </a:ln>
        </p:spPr>
      </p:pic>
      <p:grpSp>
        <p:nvGrpSpPr>
          <p:cNvPr id="19" name="Group 18">
            <a:extLst>
              <a:ext uri="{FF2B5EF4-FFF2-40B4-BE49-F238E27FC236}">
                <a16:creationId xmlns:a16="http://schemas.microsoft.com/office/drawing/2014/main" id="{DC2D136A-DC24-5FE3-0618-7B3D37059468}"/>
              </a:ext>
            </a:extLst>
          </p:cNvPr>
          <p:cNvGrpSpPr/>
          <p:nvPr/>
        </p:nvGrpSpPr>
        <p:grpSpPr>
          <a:xfrm>
            <a:off x="913" y="6277105"/>
            <a:ext cx="12430125" cy="582721"/>
            <a:chOff x="913" y="6277105"/>
            <a:chExt cx="12430125" cy="582721"/>
          </a:xfrm>
        </p:grpSpPr>
        <p:sp>
          <p:nvSpPr>
            <p:cNvPr id="17" name="Rectangle 16">
              <a:extLst>
                <a:ext uri="{FF2B5EF4-FFF2-40B4-BE49-F238E27FC236}">
                  <a16:creationId xmlns:a16="http://schemas.microsoft.com/office/drawing/2014/main" id="{4505E4D5-ED3C-C158-FF13-73915132AE10}"/>
                </a:ext>
              </a:extLst>
            </p:cNvPr>
            <p:cNvSpPr/>
            <p:nvPr/>
          </p:nvSpPr>
          <p:spPr>
            <a:xfrm>
              <a:off x="913" y="6277105"/>
              <a:ext cx="12430125" cy="582721"/>
            </a:xfrm>
            <a:prstGeom prst="rect">
              <a:avLst/>
            </a:prstGeom>
            <a:solidFill>
              <a:srgbClr val="00357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a:p>
          </p:txBody>
        </p:sp>
        <p:pic>
          <p:nvPicPr>
            <p:cNvPr id="18" name="Picture 17" descr="A white line drawing of a duck&#10;&#10;AI-generated content may be incorrect.">
              <a:extLst>
                <a:ext uri="{FF2B5EF4-FFF2-40B4-BE49-F238E27FC236}">
                  <a16:creationId xmlns:a16="http://schemas.microsoft.com/office/drawing/2014/main" id="{59C01175-3FF1-F727-D9E4-17CE26995E86}"/>
                </a:ext>
              </a:extLst>
            </p:cNvPr>
            <p:cNvPicPr>
              <a:picLocks noChangeAspect="1"/>
            </p:cNvPicPr>
            <p:nvPr/>
          </p:nvPicPr>
          <p:blipFill>
            <a:blip r:embed="rId3"/>
            <a:srcRect l="16269" t="50000" r="60000"/>
            <a:stretch>
              <a:fillRect/>
            </a:stretch>
          </p:blipFill>
          <p:spPr>
            <a:xfrm>
              <a:off x="1243" y="6296025"/>
              <a:ext cx="495962" cy="561975"/>
            </a:xfrm>
            <a:prstGeom prst="rect">
              <a:avLst/>
            </a:prstGeom>
            <a:ln>
              <a:noFill/>
            </a:ln>
          </p:spPr>
        </p:pic>
      </p:grpSp>
    </p:spTree>
    <p:extLst>
      <p:ext uri="{BB962C8B-B14F-4D97-AF65-F5344CB8AC3E}">
        <p14:creationId xmlns:p14="http://schemas.microsoft.com/office/powerpoint/2010/main" val="1128816304"/>
      </p:ext>
    </p:extLst>
  </p:cSld>
  <p:clrMapOvr>
    <a:masterClrMapping/>
  </p:clrMapOvr>
  <p:transition spd="med">
    <p:pull/>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graph with blue dots&#10;&#10;AI-generated content may be incorrect.">
            <a:extLst>
              <a:ext uri="{FF2B5EF4-FFF2-40B4-BE49-F238E27FC236}">
                <a16:creationId xmlns:a16="http://schemas.microsoft.com/office/drawing/2014/main" id="{51577E98-4505-F674-98CC-DBD81535937A}"/>
              </a:ext>
            </a:extLst>
          </p:cNvPr>
          <p:cNvPicPr>
            <a:picLocks noChangeAspect="1"/>
          </p:cNvPicPr>
          <p:nvPr/>
        </p:nvPicPr>
        <p:blipFill>
          <a:blip r:embed="rId2"/>
          <a:stretch>
            <a:fillRect/>
          </a:stretch>
        </p:blipFill>
        <p:spPr>
          <a:xfrm>
            <a:off x="838200" y="1852613"/>
            <a:ext cx="6096000" cy="3600450"/>
          </a:xfrm>
          <a:prstGeom prst="rect">
            <a:avLst/>
          </a:prstGeom>
        </p:spPr>
      </p:pic>
      <p:sp>
        <p:nvSpPr>
          <p:cNvPr id="2" name="Title 1">
            <a:extLst>
              <a:ext uri="{FF2B5EF4-FFF2-40B4-BE49-F238E27FC236}">
                <a16:creationId xmlns:a16="http://schemas.microsoft.com/office/drawing/2014/main" id="{709483CB-E353-167E-59C2-B734FB163225}"/>
              </a:ext>
            </a:extLst>
          </p:cNvPr>
          <p:cNvSpPr>
            <a:spLocks noGrp="1"/>
          </p:cNvSpPr>
          <p:nvPr>
            <p:ph type="title"/>
          </p:nvPr>
        </p:nvSpPr>
        <p:spPr/>
        <p:txBody>
          <a:bodyPr>
            <a:normAutofit/>
          </a:bodyPr>
          <a:lstStyle/>
          <a:p>
            <a:r>
              <a:rPr lang="en-GB" sz="4000"/>
              <a:t>Revenue Earning and Hours</a:t>
            </a:r>
          </a:p>
        </p:txBody>
      </p:sp>
      <p:pic>
        <p:nvPicPr>
          <p:cNvPr id="4" name="Content Placeholder 3" descr="A graph with blue dots&#10;&#10;AI-generated content may be incorrect.">
            <a:extLst>
              <a:ext uri="{FF2B5EF4-FFF2-40B4-BE49-F238E27FC236}">
                <a16:creationId xmlns:a16="http://schemas.microsoft.com/office/drawing/2014/main" id="{86B39489-959C-8359-9305-0A603E601485}"/>
              </a:ext>
            </a:extLst>
          </p:cNvPr>
          <p:cNvPicPr>
            <a:picLocks noGrp="1" noChangeAspect="1"/>
          </p:cNvPicPr>
          <p:nvPr>
            <p:ph idx="1"/>
          </p:nvPr>
        </p:nvPicPr>
        <p:blipFill>
          <a:blip r:embed="rId3"/>
          <a:stretch>
            <a:fillRect/>
          </a:stretch>
        </p:blipFill>
        <p:spPr>
          <a:xfrm>
            <a:off x="838200" y="1856890"/>
            <a:ext cx="6096000" cy="3603009"/>
          </a:xfrm>
          <a:prstGeom prst="rect">
            <a:avLst/>
          </a:prstGeom>
        </p:spPr>
      </p:pic>
      <p:sp>
        <p:nvSpPr>
          <p:cNvPr id="6" name="TextBox 5">
            <a:extLst>
              <a:ext uri="{FF2B5EF4-FFF2-40B4-BE49-F238E27FC236}">
                <a16:creationId xmlns:a16="http://schemas.microsoft.com/office/drawing/2014/main" id="{2B4DC7BB-99E0-A095-6553-64F62B96FF2F}"/>
              </a:ext>
            </a:extLst>
          </p:cNvPr>
          <p:cNvSpPr txBox="1"/>
          <p:nvPr/>
        </p:nvSpPr>
        <p:spPr>
          <a:xfrm>
            <a:off x="7703507" y="1691013"/>
            <a:ext cx="3653424" cy="34163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GB"/>
              <a:t>Top 6 consultants contributed €3,122,452 of total project revenue</a:t>
            </a:r>
            <a:endParaRPr lang="en-US"/>
          </a:p>
          <a:p>
            <a:pPr marL="285750" indent="-285750">
              <a:buFont typeface="Arial"/>
              <a:buChar char="•"/>
            </a:pPr>
            <a:r>
              <a:rPr lang="en-GB"/>
              <a:t>Consultant value average varies between €9,470.20 and €22,914.50</a:t>
            </a:r>
            <a:endParaRPr lang="en-US"/>
          </a:p>
          <a:p>
            <a:pPr marL="285750" indent="-285750">
              <a:buFont typeface="Arial"/>
              <a:buChar char="•"/>
            </a:pPr>
            <a:endParaRPr lang="en-GB"/>
          </a:p>
          <a:p>
            <a:pPr marL="285750" indent="-285750">
              <a:buFont typeface="Arial"/>
              <a:buChar char="•"/>
            </a:pPr>
            <a:r>
              <a:rPr lang="en-GB"/>
              <a:t>Connection of hours billed and revenue generated not as strong</a:t>
            </a:r>
          </a:p>
          <a:p>
            <a:pPr marL="285750" indent="-285750">
              <a:buFont typeface="Arial"/>
              <a:buChar char="•"/>
            </a:pPr>
            <a:r>
              <a:rPr lang="en-GB"/>
              <a:t>Consultants taking on services outside main specialisms</a:t>
            </a:r>
          </a:p>
          <a:p>
            <a:pPr marL="285750" indent="-285750">
              <a:buFont typeface="Arial"/>
              <a:buChar char="•"/>
            </a:pPr>
            <a:endParaRPr lang="en-GB"/>
          </a:p>
        </p:txBody>
      </p:sp>
      <p:pic>
        <p:nvPicPr>
          <p:cNvPr id="8" name="Picture 7" descr="A white line drawing of a duck&#10;&#10;AI-generated content may be incorrect.">
            <a:extLst>
              <a:ext uri="{FF2B5EF4-FFF2-40B4-BE49-F238E27FC236}">
                <a16:creationId xmlns:a16="http://schemas.microsoft.com/office/drawing/2014/main" id="{F9DD3A12-5805-4A9F-10D4-8694373E51C3}"/>
              </a:ext>
            </a:extLst>
          </p:cNvPr>
          <p:cNvPicPr>
            <a:picLocks noChangeAspect="1"/>
          </p:cNvPicPr>
          <p:nvPr/>
        </p:nvPicPr>
        <p:blipFill>
          <a:blip r:embed="rId4"/>
          <a:srcRect l="16269" t="50000" r="60000"/>
          <a:stretch>
            <a:fillRect/>
          </a:stretch>
        </p:blipFill>
        <p:spPr>
          <a:xfrm>
            <a:off x="10768" y="6315075"/>
            <a:ext cx="495962" cy="561975"/>
          </a:xfrm>
          <a:prstGeom prst="rect">
            <a:avLst/>
          </a:prstGeom>
        </p:spPr>
      </p:pic>
      <p:grpSp>
        <p:nvGrpSpPr>
          <p:cNvPr id="12" name="Group 11">
            <a:extLst>
              <a:ext uri="{FF2B5EF4-FFF2-40B4-BE49-F238E27FC236}">
                <a16:creationId xmlns:a16="http://schemas.microsoft.com/office/drawing/2014/main" id="{EEB7DAA1-16E3-F28E-6CBC-5BD5BB7D7454}"/>
              </a:ext>
            </a:extLst>
          </p:cNvPr>
          <p:cNvGrpSpPr/>
          <p:nvPr/>
        </p:nvGrpSpPr>
        <p:grpSpPr>
          <a:xfrm>
            <a:off x="913" y="6277105"/>
            <a:ext cx="12430125" cy="582721"/>
            <a:chOff x="913" y="6277105"/>
            <a:chExt cx="12430125" cy="582721"/>
          </a:xfrm>
        </p:grpSpPr>
        <p:sp>
          <p:nvSpPr>
            <p:cNvPr id="10" name="Rectangle 9">
              <a:extLst>
                <a:ext uri="{FF2B5EF4-FFF2-40B4-BE49-F238E27FC236}">
                  <a16:creationId xmlns:a16="http://schemas.microsoft.com/office/drawing/2014/main" id="{7CBBC73D-6984-1D6F-44AE-3A211128B5CB}"/>
                </a:ext>
              </a:extLst>
            </p:cNvPr>
            <p:cNvSpPr/>
            <p:nvPr/>
          </p:nvSpPr>
          <p:spPr>
            <a:xfrm>
              <a:off x="913" y="6277105"/>
              <a:ext cx="12430125" cy="582721"/>
            </a:xfrm>
            <a:prstGeom prst="rect">
              <a:avLst/>
            </a:prstGeom>
            <a:solidFill>
              <a:srgbClr val="00357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a:p>
          </p:txBody>
        </p:sp>
        <p:pic>
          <p:nvPicPr>
            <p:cNvPr id="11" name="Picture 10" descr="A white line drawing of a duck&#10;&#10;AI-generated content may be incorrect.">
              <a:extLst>
                <a:ext uri="{FF2B5EF4-FFF2-40B4-BE49-F238E27FC236}">
                  <a16:creationId xmlns:a16="http://schemas.microsoft.com/office/drawing/2014/main" id="{0E7C82F9-BC68-EA02-3CAD-C1A925BD76DD}"/>
                </a:ext>
              </a:extLst>
            </p:cNvPr>
            <p:cNvPicPr>
              <a:picLocks noChangeAspect="1"/>
            </p:cNvPicPr>
            <p:nvPr/>
          </p:nvPicPr>
          <p:blipFill>
            <a:blip r:embed="rId4"/>
            <a:srcRect l="16269" t="50000" r="60000"/>
            <a:stretch>
              <a:fillRect/>
            </a:stretch>
          </p:blipFill>
          <p:spPr>
            <a:xfrm>
              <a:off x="1243" y="6296025"/>
              <a:ext cx="495962" cy="561975"/>
            </a:xfrm>
            <a:prstGeom prst="rect">
              <a:avLst/>
            </a:prstGeom>
            <a:ln>
              <a:noFill/>
            </a:ln>
          </p:spPr>
        </p:pic>
      </p:grpSp>
    </p:spTree>
    <p:extLst>
      <p:ext uri="{BB962C8B-B14F-4D97-AF65-F5344CB8AC3E}">
        <p14:creationId xmlns:p14="http://schemas.microsoft.com/office/powerpoint/2010/main" val="665552393"/>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0357A"/>
        </a:solidFill>
        <a:effectLst/>
      </p:bgPr>
    </p:bg>
    <p:spTree>
      <p:nvGrpSpPr>
        <p:cNvPr id="1" name="">
          <a:extLst>
            <a:ext uri="{FF2B5EF4-FFF2-40B4-BE49-F238E27FC236}">
              <a16:creationId xmlns:a16="http://schemas.microsoft.com/office/drawing/2014/main" id="{E8E7B474-58CD-A151-028F-B025E7485A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F7F943-6478-818D-666C-941A292B5D24}"/>
              </a:ext>
            </a:extLst>
          </p:cNvPr>
          <p:cNvSpPr>
            <a:spLocks noGrp="1"/>
          </p:cNvSpPr>
          <p:nvPr>
            <p:ph type="ctrTitle"/>
          </p:nvPr>
        </p:nvSpPr>
        <p:spPr>
          <a:xfrm>
            <a:off x="847725" y="2236788"/>
            <a:ext cx="9144000" cy="2387600"/>
          </a:xfrm>
        </p:spPr>
        <p:txBody>
          <a:bodyPr/>
          <a:lstStyle/>
          <a:p>
            <a:pPr algn="l"/>
            <a:r>
              <a:rPr lang="en-GB" b="1">
                <a:solidFill>
                  <a:schemeClr val="bg1"/>
                </a:solidFill>
              </a:rPr>
              <a:t>Conclusion</a:t>
            </a:r>
            <a:endParaRPr lang="en-US" b="1">
              <a:solidFill>
                <a:schemeClr val="bg1"/>
              </a:solidFill>
            </a:endParaRPr>
          </a:p>
        </p:txBody>
      </p:sp>
      <p:pic>
        <p:nvPicPr>
          <p:cNvPr id="4" name="Picture 3" descr="A white line drawing of a duck&#10;&#10;AI-generated content may be incorrect.">
            <a:extLst>
              <a:ext uri="{FF2B5EF4-FFF2-40B4-BE49-F238E27FC236}">
                <a16:creationId xmlns:a16="http://schemas.microsoft.com/office/drawing/2014/main" id="{71A9EB82-E416-F70F-50CA-4EB5EB9C80C7}"/>
              </a:ext>
            </a:extLst>
          </p:cNvPr>
          <p:cNvPicPr>
            <a:picLocks noChangeAspect="1"/>
          </p:cNvPicPr>
          <p:nvPr/>
        </p:nvPicPr>
        <p:blipFill>
          <a:blip r:embed="rId2"/>
          <a:srcRect l="16269" t="50000" r="60000"/>
          <a:stretch>
            <a:fillRect/>
          </a:stretch>
        </p:blipFill>
        <p:spPr>
          <a:xfrm flipH="1">
            <a:off x="9375940" y="3508984"/>
            <a:ext cx="2441521" cy="2847975"/>
          </a:xfrm>
          <a:prstGeom prst="rect">
            <a:avLst/>
          </a:prstGeom>
        </p:spPr>
      </p:pic>
    </p:spTree>
    <p:extLst>
      <p:ext uri="{BB962C8B-B14F-4D97-AF65-F5344CB8AC3E}">
        <p14:creationId xmlns:p14="http://schemas.microsoft.com/office/powerpoint/2010/main" val="4139126738"/>
      </p:ext>
    </p:extLst>
  </p:cSld>
  <p:clrMapOvr>
    <a:masterClrMapping/>
  </p:clrMapOvr>
  <p:transition spd="slow">
    <p:push dir="u"/>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A0F72-7AEC-6FE2-F7E8-C5E3758FDF76}"/>
              </a:ext>
            </a:extLst>
          </p:cNvPr>
          <p:cNvSpPr>
            <a:spLocks noGrp="1"/>
          </p:cNvSpPr>
          <p:nvPr>
            <p:ph type="ctrTitle"/>
          </p:nvPr>
        </p:nvSpPr>
        <p:spPr>
          <a:xfrm>
            <a:off x="931637" y="721676"/>
            <a:ext cx="3318327" cy="770188"/>
          </a:xfrm>
        </p:spPr>
        <p:txBody>
          <a:bodyPr anchor="b">
            <a:normAutofit/>
          </a:bodyPr>
          <a:lstStyle/>
          <a:p>
            <a:pPr algn="l"/>
            <a:r>
              <a:rPr lang="en-GB" sz="4800"/>
              <a:t>Conclusion </a:t>
            </a:r>
          </a:p>
        </p:txBody>
      </p:sp>
      <p:sp>
        <p:nvSpPr>
          <p:cNvPr id="3" name="Subtitle 2">
            <a:extLst>
              <a:ext uri="{FF2B5EF4-FFF2-40B4-BE49-F238E27FC236}">
                <a16:creationId xmlns:a16="http://schemas.microsoft.com/office/drawing/2014/main" id="{A3EB9536-B125-1284-C6B4-484C7091C515}"/>
              </a:ext>
            </a:extLst>
          </p:cNvPr>
          <p:cNvSpPr>
            <a:spLocks noGrp="1"/>
          </p:cNvSpPr>
          <p:nvPr>
            <p:ph type="subTitle" idx="1"/>
          </p:nvPr>
        </p:nvSpPr>
        <p:spPr>
          <a:xfrm>
            <a:off x="931637" y="1710780"/>
            <a:ext cx="9441541" cy="3541835"/>
          </a:xfrm>
        </p:spPr>
        <p:txBody>
          <a:bodyPr vert="horz" lIns="91440" tIns="45720" rIns="91440" bIns="45720" rtlCol="0" anchor="t">
            <a:noAutofit/>
          </a:bodyPr>
          <a:lstStyle/>
          <a:p>
            <a:pPr algn="l"/>
            <a:r>
              <a:rPr lang="en-GB" sz="1800" b="1"/>
              <a:t>Clients: </a:t>
            </a:r>
            <a:r>
              <a:rPr lang="en-GB" sz="1800"/>
              <a:t>I</a:t>
            </a:r>
            <a:r>
              <a:rPr lang="en-GB" sz="1800">
                <a:ea typeface="+mn-lt"/>
                <a:cs typeface="+mn-lt"/>
              </a:rPr>
              <a:t>ndustry with the highest number of clients is from the financial services sector. Additionally, clients in that sector have the highest retention rates and are more likely to be offered SERV002 than any other client industry.</a:t>
            </a:r>
            <a:endParaRPr lang="en-US"/>
          </a:p>
          <a:p>
            <a:pPr algn="l"/>
            <a:r>
              <a:rPr lang="en-GB" sz="1800" b="1"/>
              <a:t>Consultants: </a:t>
            </a:r>
            <a:r>
              <a:rPr lang="en-GB" sz="1800"/>
              <a:t>Location is important but not as strong a factor for hours spent on project. High revenue tied to a small number of consultants. Large deviation between hours billed and amount of revenue generated</a:t>
            </a:r>
          </a:p>
          <a:p>
            <a:pPr algn="l">
              <a:lnSpc>
                <a:spcPct val="100000"/>
              </a:lnSpc>
            </a:pPr>
            <a:r>
              <a:rPr lang="en-GB" sz="1800" b="1"/>
              <a:t>Leads:</a:t>
            </a:r>
            <a:r>
              <a:rPr lang="en-GB" sz="1800"/>
              <a:t> France and Germany have the highest organic leads per clients suggesting organic reach and an untapped market. They should expand aggressively in France, Germany and Kenya targeting climate and sustainability clients as they represent the highest conversion potential internationally.</a:t>
            </a:r>
          </a:p>
          <a:p>
            <a:pPr algn="l"/>
            <a:r>
              <a:rPr lang="en-GB" sz="1800" b="1"/>
              <a:t>Sales Trends: </a:t>
            </a:r>
            <a:r>
              <a:rPr lang="en-GB" sz="1800"/>
              <a:t>Revenue has rapidly increased since 2021, 2025 earning the highest amount of income, 2026 may experience a similar outcome by the end of the year</a:t>
            </a:r>
          </a:p>
        </p:txBody>
      </p:sp>
      <p:pic>
        <p:nvPicPr>
          <p:cNvPr id="9" name="Graphic 8" descr="Lightbulb">
            <a:extLst>
              <a:ext uri="{FF2B5EF4-FFF2-40B4-BE49-F238E27FC236}">
                <a16:creationId xmlns:a16="http://schemas.microsoft.com/office/drawing/2014/main" id="{A6742CC1-CF35-4102-896E-641B3B51D34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a:alphaModFix amt="15000"/>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607815" y="716407"/>
            <a:ext cx="5411343" cy="5411343"/>
          </a:xfrm>
          <a:prstGeom prst="rect">
            <a:avLst/>
          </a:prstGeom>
        </p:spPr>
      </p:pic>
      <p:grpSp>
        <p:nvGrpSpPr>
          <p:cNvPr id="19" name="Group 18">
            <a:extLst>
              <a:ext uri="{FF2B5EF4-FFF2-40B4-BE49-F238E27FC236}">
                <a16:creationId xmlns:a16="http://schemas.microsoft.com/office/drawing/2014/main" id="{24A8186C-B812-1B04-05F6-41FECB20C2EE}"/>
              </a:ext>
            </a:extLst>
          </p:cNvPr>
          <p:cNvGrpSpPr/>
          <p:nvPr/>
        </p:nvGrpSpPr>
        <p:grpSpPr>
          <a:xfrm>
            <a:off x="913" y="6277105"/>
            <a:ext cx="12430125" cy="582721"/>
            <a:chOff x="913" y="6277105"/>
            <a:chExt cx="12430125" cy="582721"/>
          </a:xfrm>
        </p:grpSpPr>
        <p:sp>
          <p:nvSpPr>
            <p:cNvPr id="16" name="Rectangle 15">
              <a:extLst>
                <a:ext uri="{FF2B5EF4-FFF2-40B4-BE49-F238E27FC236}">
                  <a16:creationId xmlns:a16="http://schemas.microsoft.com/office/drawing/2014/main" id="{65BF89B0-0446-F36C-9173-FF7AB3560CBD}"/>
                </a:ext>
              </a:extLst>
            </p:cNvPr>
            <p:cNvSpPr/>
            <p:nvPr/>
          </p:nvSpPr>
          <p:spPr>
            <a:xfrm>
              <a:off x="913" y="6277105"/>
              <a:ext cx="12430125" cy="582721"/>
            </a:xfrm>
            <a:prstGeom prst="rect">
              <a:avLst/>
            </a:prstGeom>
            <a:solidFill>
              <a:srgbClr val="00357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a:p>
          </p:txBody>
        </p:sp>
        <p:pic>
          <p:nvPicPr>
            <p:cNvPr id="18" name="Picture 17" descr="A white line drawing of a duck&#10;&#10;AI-generated content may be incorrect.">
              <a:extLst>
                <a:ext uri="{FF2B5EF4-FFF2-40B4-BE49-F238E27FC236}">
                  <a16:creationId xmlns:a16="http://schemas.microsoft.com/office/drawing/2014/main" id="{95F2C907-0A39-5A7C-1A5C-229A53F4761A}"/>
                </a:ext>
              </a:extLst>
            </p:cNvPr>
            <p:cNvPicPr>
              <a:picLocks noChangeAspect="1"/>
            </p:cNvPicPr>
            <p:nvPr/>
          </p:nvPicPr>
          <p:blipFill>
            <a:blip r:embed="rId3"/>
            <a:srcRect l="16269" t="50000" r="60000"/>
            <a:stretch>
              <a:fillRect/>
            </a:stretch>
          </p:blipFill>
          <p:spPr>
            <a:xfrm>
              <a:off x="1243" y="6296025"/>
              <a:ext cx="495962" cy="561975"/>
            </a:xfrm>
            <a:prstGeom prst="rect">
              <a:avLst/>
            </a:prstGeom>
            <a:ln>
              <a:noFill/>
            </a:ln>
          </p:spPr>
        </p:pic>
      </p:grpSp>
    </p:spTree>
    <p:extLst>
      <p:ext uri="{BB962C8B-B14F-4D97-AF65-F5344CB8AC3E}">
        <p14:creationId xmlns:p14="http://schemas.microsoft.com/office/powerpoint/2010/main" val="115701935"/>
      </p:ext>
    </p:extLst>
  </p:cSld>
  <p:clrMapOvr>
    <a:masterClrMapping/>
  </p:clrMapOvr>
  <p:transition spd="med">
    <p:pull/>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31E6E0A-450B-0ACE-F6C9-D936C1B229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F79176-FE9F-7684-B072-83B80B75E58E}"/>
              </a:ext>
            </a:extLst>
          </p:cNvPr>
          <p:cNvSpPr>
            <a:spLocks noGrp="1"/>
          </p:cNvSpPr>
          <p:nvPr>
            <p:ph type="ctrTitle"/>
          </p:nvPr>
        </p:nvSpPr>
        <p:spPr>
          <a:xfrm>
            <a:off x="931637" y="721676"/>
            <a:ext cx="9128577" cy="770188"/>
          </a:xfrm>
        </p:spPr>
        <p:txBody>
          <a:bodyPr anchor="b">
            <a:normAutofit/>
          </a:bodyPr>
          <a:lstStyle/>
          <a:p>
            <a:pPr algn="l"/>
            <a:r>
              <a:rPr lang="en-GB" sz="4800"/>
              <a:t>Recommendations</a:t>
            </a:r>
          </a:p>
        </p:txBody>
      </p:sp>
      <p:pic>
        <p:nvPicPr>
          <p:cNvPr id="9" name="Graphic 8" descr="Lightbulb">
            <a:extLst>
              <a:ext uri="{FF2B5EF4-FFF2-40B4-BE49-F238E27FC236}">
                <a16:creationId xmlns:a16="http://schemas.microsoft.com/office/drawing/2014/main" id="{6CE59E41-0D77-0716-DAC2-C930F7D54AF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a:alphaModFix amt="15000"/>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607815" y="716407"/>
            <a:ext cx="5411343" cy="5411343"/>
          </a:xfrm>
          <a:prstGeom prst="rect">
            <a:avLst/>
          </a:prstGeom>
        </p:spPr>
      </p:pic>
      <p:grpSp>
        <p:nvGrpSpPr>
          <p:cNvPr id="19" name="Group 18">
            <a:extLst>
              <a:ext uri="{FF2B5EF4-FFF2-40B4-BE49-F238E27FC236}">
                <a16:creationId xmlns:a16="http://schemas.microsoft.com/office/drawing/2014/main" id="{D1D67726-B513-35AE-EA2D-AD4EB37F12F1}"/>
              </a:ext>
            </a:extLst>
          </p:cNvPr>
          <p:cNvGrpSpPr/>
          <p:nvPr/>
        </p:nvGrpSpPr>
        <p:grpSpPr>
          <a:xfrm>
            <a:off x="913" y="6277105"/>
            <a:ext cx="12430125" cy="582721"/>
            <a:chOff x="913" y="6277105"/>
            <a:chExt cx="12430125" cy="582721"/>
          </a:xfrm>
        </p:grpSpPr>
        <p:sp>
          <p:nvSpPr>
            <p:cNvPr id="16" name="Rectangle 15">
              <a:extLst>
                <a:ext uri="{FF2B5EF4-FFF2-40B4-BE49-F238E27FC236}">
                  <a16:creationId xmlns:a16="http://schemas.microsoft.com/office/drawing/2014/main" id="{8B36AEAF-3737-FE6A-AEA4-276C8F9BE7D4}"/>
                </a:ext>
              </a:extLst>
            </p:cNvPr>
            <p:cNvSpPr/>
            <p:nvPr/>
          </p:nvSpPr>
          <p:spPr>
            <a:xfrm>
              <a:off x="913" y="6277105"/>
              <a:ext cx="12430125" cy="582721"/>
            </a:xfrm>
            <a:prstGeom prst="rect">
              <a:avLst/>
            </a:prstGeom>
            <a:solidFill>
              <a:srgbClr val="00357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a:p>
          </p:txBody>
        </p:sp>
        <p:pic>
          <p:nvPicPr>
            <p:cNvPr id="18" name="Picture 17" descr="A white line drawing of a duck&#10;&#10;AI-generated content may be incorrect.">
              <a:extLst>
                <a:ext uri="{FF2B5EF4-FFF2-40B4-BE49-F238E27FC236}">
                  <a16:creationId xmlns:a16="http://schemas.microsoft.com/office/drawing/2014/main" id="{A886D91A-0602-CDDA-4452-F0B3D1716D72}"/>
                </a:ext>
              </a:extLst>
            </p:cNvPr>
            <p:cNvPicPr>
              <a:picLocks noChangeAspect="1"/>
            </p:cNvPicPr>
            <p:nvPr/>
          </p:nvPicPr>
          <p:blipFill>
            <a:blip r:embed="rId3"/>
            <a:srcRect l="16269" t="50000" r="60000"/>
            <a:stretch>
              <a:fillRect/>
            </a:stretch>
          </p:blipFill>
          <p:spPr>
            <a:xfrm>
              <a:off x="1243" y="6296025"/>
              <a:ext cx="495962" cy="561975"/>
            </a:xfrm>
            <a:prstGeom prst="rect">
              <a:avLst/>
            </a:prstGeom>
            <a:ln>
              <a:noFill/>
            </a:ln>
          </p:spPr>
        </p:pic>
      </p:grpSp>
      <p:sp>
        <p:nvSpPr>
          <p:cNvPr id="5" name="Subtitle 4">
            <a:extLst>
              <a:ext uri="{FF2B5EF4-FFF2-40B4-BE49-F238E27FC236}">
                <a16:creationId xmlns:a16="http://schemas.microsoft.com/office/drawing/2014/main" id="{DBF41EFC-72A2-39D7-B8BB-941BA19F965E}"/>
              </a:ext>
            </a:extLst>
          </p:cNvPr>
          <p:cNvSpPr>
            <a:spLocks noGrp="1"/>
          </p:cNvSpPr>
          <p:nvPr>
            <p:ph type="subTitle" idx="1"/>
          </p:nvPr>
        </p:nvSpPr>
        <p:spPr>
          <a:xfrm>
            <a:off x="1086677" y="1641219"/>
            <a:ext cx="11343696" cy="4486531"/>
          </a:xfrm>
        </p:spPr>
        <p:txBody>
          <a:bodyPr vert="horz" lIns="91440" tIns="45720" rIns="91440" bIns="45720" rtlCol="0" anchor="t">
            <a:normAutofit/>
          </a:bodyPr>
          <a:lstStyle/>
          <a:p>
            <a:pPr algn="l"/>
            <a:r>
              <a:rPr lang="en-GB" b="1"/>
              <a:t>Focus:</a:t>
            </a:r>
          </a:p>
          <a:p>
            <a:pPr marL="342900" indent="-342900" algn="l">
              <a:buFont typeface="Arial" panose="020B0604020202020204" pitchFamily="34" charset="0"/>
              <a:buChar char="•"/>
            </a:pPr>
            <a:r>
              <a:rPr lang="en-GB"/>
              <a:t>Top performing industries to maximise revenue and client retention</a:t>
            </a:r>
          </a:p>
          <a:p>
            <a:pPr algn="l"/>
            <a:endParaRPr lang="en-GB"/>
          </a:p>
          <a:p>
            <a:pPr algn="l"/>
            <a:r>
              <a:rPr lang="en-GB" b="1"/>
              <a:t>Improve:</a:t>
            </a:r>
          </a:p>
          <a:p>
            <a:pPr marL="342900" indent="-342900" algn="l">
              <a:buFont typeface="Arial" panose="020B0604020202020204" pitchFamily="34" charset="0"/>
              <a:buChar char="•"/>
            </a:pPr>
            <a:r>
              <a:rPr lang="en-GB"/>
              <a:t>Low-profit services through pricing, efficiency, or repositioning</a:t>
            </a:r>
          </a:p>
          <a:p>
            <a:pPr algn="l"/>
            <a:endParaRPr lang="en-GB"/>
          </a:p>
          <a:p>
            <a:pPr algn="l"/>
            <a:r>
              <a:rPr lang="en-GB" b="1"/>
              <a:t>Invest:</a:t>
            </a:r>
          </a:p>
          <a:p>
            <a:pPr marL="342900" indent="-342900" algn="l">
              <a:buFont typeface="Arial" panose="020B0604020202020204" pitchFamily="34" charset="0"/>
              <a:buChar char="•"/>
            </a:pPr>
            <a:r>
              <a:rPr lang="en-GB"/>
              <a:t>High-demand services and to strengthen competitive advantage</a:t>
            </a:r>
          </a:p>
        </p:txBody>
      </p:sp>
    </p:spTree>
    <p:extLst>
      <p:ext uri="{BB962C8B-B14F-4D97-AF65-F5344CB8AC3E}">
        <p14:creationId xmlns:p14="http://schemas.microsoft.com/office/powerpoint/2010/main" val="1662932673"/>
      </p:ext>
    </p:extLst>
  </p:cSld>
  <p:clrMapOvr>
    <a:masterClrMapping/>
  </p:clrMapOvr>
  <p:transition spd="med">
    <p:pull/>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0357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F91F43-FC51-1FDF-845A-54EA5F3F5859}"/>
              </a:ext>
            </a:extLst>
          </p:cNvPr>
          <p:cNvSpPr>
            <a:spLocks noGrp="1"/>
          </p:cNvSpPr>
          <p:nvPr>
            <p:ph type="ctrTitle"/>
          </p:nvPr>
        </p:nvSpPr>
        <p:spPr/>
        <p:txBody>
          <a:bodyPr/>
          <a:lstStyle/>
          <a:p>
            <a:r>
              <a:rPr lang="en-GB" b="1">
                <a:solidFill>
                  <a:schemeClr val="bg1"/>
                </a:solidFill>
              </a:rPr>
              <a:t>Q&amp;A</a:t>
            </a:r>
            <a:endParaRPr lang="en-US" b="1">
              <a:solidFill>
                <a:schemeClr val="bg1"/>
              </a:solidFill>
            </a:endParaRPr>
          </a:p>
        </p:txBody>
      </p:sp>
      <p:sp>
        <p:nvSpPr>
          <p:cNvPr id="3" name="Subtitle 2">
            <a:extLst>
              <a:ext uri="{FF2B5EF4-FFF2-40B4-BE49-F238E27FC236}">
                <a16:creationId xmlns:a16="http://schemas.microsoft.com/office/drawing/2014/main" id="{3C6EAAFA-B04E-E475-66D5-D8DA238BEE50}"/>
              </a:ext>
            </a:extLst>
          </p:cNvPr>
          <p:cNvSpPr>
            <a:spLocks noGrp="1"/>
          </p:cNvSpPr>
          <p:nvPr>
            <p:ph type="subTitle" idx="1"/>
          </p:nvPr>
        </p:nvSpPr>
        <p:spPr/>
        <p:txBody>
          <a:bodyPr/>
          <a:lstStyle/>
          <a:p>
            <a:endParaRPr lang="en-GB"/>
          </a:p>
        </p:txBody>
      </p:sp>
      <p:pic>
        <p:nvPicPr>
          <p:cNvPr id="5" name="Picture 4" descr="A white line drawing of a duck&#10;&#10;AI-generated content may be incorrect.">
            <a:extLst>
              <a:ext uri="{FF2B5EF4-FFF2-40B4-BE49-F238E27FC236}">
                <a16:creationId xmlns:a16="http://schemas.microsoft.com/office/drawing/2014/main" id="{D0DFD5FC-C719-F8F3-C0D9-7351F40F0C9F}"/>
              </a:ext>
            </a:extLst>
          </p:cNvPr>
          <p:cNvPicPr>
            <a:picLocks noChangeAspect="1"/>
          </p:cNvPicPr>
          <p:nvPr/>
        </p:nvPicPr>
        <p:blipFill>
          <a:blip r:embed="rId2"/>
          <a:srcRect l="16269" t="50000" r="60000"/>
          <a:stretch>
            <a:fillRect/>
          </a:stretch>
        </p:blipFill>
        <p:spPr>
          <a:xfrm>
            <a:off x="1243" y="4010025"/>
            <a:ext cx="2391437" cy="2847975"/>
          </a:xfrm>
          <a:prstGeom prst="rect">
            <a:avLst/>
          </a:prstGeom>
        </p:spPr>
      </p:pic>
    </p:spTree>
    <p:extLst>
      <p:ext uri="{BB962C8B-B14F-4D97-AF65-F5344CB8AC3E}">
        <p14:creationId xmlns:p14="http://schemas.microsoft.com/office/powerpoint/2010/main" val="2629651007"/>
      </p:ext>
    </p:extLst>
  </p:cSld>
  <p:clrMapOvr>
    <a:masterClrMapping/>
  </p:clrMapOvr>
  <p:transition spd="slow">
    <p:push dir="u"/>
  </p:transition>
</p:sld>
</file>

<file path=ppt/slides/slide22.xml><?xml version="1.0" encoding="utf-8"?>
<p:sld xmlns:a="http://schemas.openxmlformats.org/drawingml/2006/main" xmlns:r="http://schemas.openxmlformats.org/officeDocument/2006/relationships" xmlns:p="http://schemas.openxmlformats.org/presentationml/2006/main" showMasterSp="0">
  <p:cSld>
    <p:bg>
      <p:bgPr>
        <a:solidFill>
          <a:srgbClr val="00357A"/>
        </a:solidFill>
        <a:effectLst/>
      </p:bgPr>
    </p:bg>
    <p:spTree>
      <p:nvGrpSpPr>
        <p:cNvPr id="1" name="">
          <a:extLst>
            <a:ext uri="{FF2B5EF4-FFF2-40B4-BE49-F238E27FC236}">
              <a16:creationId xmlns:a16="http://schemas.microsoft.com/office/drawing/2014/main" id="{5FE0526A-42DA-2784-0274-CA349B34CC7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0B6A3E8-7456-8769-9263-24D9D9FA7618}"/>
              </a:ext>
            </a:extLst>
          </p:cNvPr>
          <p:cNvSpPr>
            <a:spLocks noGrp="1"/>
          </p:cNvSpPr>
          <p:nvPr>
            <p:ph type="ctrTitle"/>
          </p:nvPr>
        </p:nvSpPr>
        <p:spPr>
          <a:xfrm>
            <a:off x="2888301" y="2027401"/>
            <a:ext cx="7323430" cy="908297"/>
          </a:xfrm>
        </p:spPr>
        <p:txBody>
          <a:bodyPr>
            <a:normAutofit fontScale="90000"/>
          </a:bodyPr>
          <a:lstStyle/>
          <a:p>
            <a:pPr>
              <a:lnSpc>
                <a:spcPct val="100000"/>
              </a:lnSpc>
            </a:pPr>
            <a:br>
              <a:rPr lang="en-GB" sz="4400"/>
            </a:br>
            <a:r>
              <a:rPr lang="en-GB" b="1"/>
              <a:t>Thank You For Listening</a:t>
            </a:r>
          </a:p>
        </p:txBody>
      </p:sp>
      <p:pic>
        <p:nvPicPr>
          <p:cNvPr id="5" name="Picture 4" descr="A white line drawing of a duck&#10;&#10;AI-generated content may be incorrect.">
            <a:extLst>
              <a:ext uri="{FF2B5EF4-FFF2-40B4-BE49-F238E27FC236}">
                <a16:creationId xmlns:a16="http://schemas.microsoft.com/office/drawing/2014/main" id="{D969BF24-76E6-5F20-4779-B4873EE762AE}"/>
              </a:ext>
            </a:extLst>
          </p:cNvPr>
          <p:cNvPicPr>
            <a:picLocks noChangeAspect="1"/>
          </p:cNvPicPr>
          <p:nvPr/>
        </p:nvPicPr>
        <p:blipFill>
          <a:blip r:embed="rId2"/>
          <a:srcRect l="16269" t="50000" r="60000"/>
          <a:stretch>
            <a:fillRect/>
          </a:stretch>
        </p:blipFill>
        <p:spPr>
          <a:xfrm>
            <a:off x="1243" y="4010025"/>
            <a:ext cx="2391437" cy="2847975"/>
          </a:xfrm>
          <a:prstGeom prst="rect">
            <a:avLst/>
          </a:prstGeom>
        </p:spPr>
      </p:pic>
    </p:spTree>
    <p:extLst>
      <p:ext uri="{BB962C8B-B14F-4D97-AF65-F5344CB8AC3E}">
        <p14:creationId xmlns:p14="http://schemas.microsoft.com/office/powerpoint/2010/main" val="193561398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362</TotalTime>
  <Words>1044</Words>
  <Application>Microsoft Office PowerPoint</Application>
  <PresentationFormat>Widescreen</PresentationFormat>
  <Paragraphs>150</Paragraphs>
  <Slides>22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Aptos</vt:lpstr>
      <vt:lpstr>Aptos Display</vt:lpstr>
      <vt:lpstr>Arial</vt:lpstr>
      <vt:lpstr>Calibri</vt:lpstr>
      <vt:lpstr>Courier New</vt:lpstr>
      <vt:lpstr>office theme</vt:lpstr>
      <vt:lpstr>EnterpriseGoose Business Expansion Analysis  Data driven insights and 12-month growth recommendations</vt:lpstr>
      <vt:lpstr>Contents</vt:lpstr>
      <vt:lpstr> </vt:lpstr>
      <vt:lpstr>Tools Used</vt:lpstr>
      <vt:lpstr>Data Privacy &amp; Security</vt:lpstr>
      <vt:lpstr>Analysis</vt:lpstr>
      <vt:lpstr> Where is EnterpriseGoose most successful?</vt:lpstr>
      <vt:lpstr>Where is organic growth coming from?</vt:lpstr>
      <vt:lpstr>Where is outreach succeeding in 2026?</vt:lpstr>
      <vt:lpstr>Conversion rates by industry </vt:lpstr>
      <vt:lpstr>Which Industries Use Our Services the Most?</vt:lpstr>
      <vt:lpstr>Services Popularity &amp; Profitability Summary</vt:lpstr>
      <vt:lpstr>Sales Trends</vt:lpstr>
      <vt:lpstr>Service Revenue</vt:lpstr>
      <vt:lpstr>Client Retention Rates</vt:lpstr>
      <vt:lpstr>Consultants: Location and Time Employed</vt:lpstr>
      <vt:lpstr>Revenue Earning and Hours</vt:lpstr>
      <vt:lpstr>Conclusion</vt:lpstr>
      <vt:lpstr>Conclusion </vt:lpstr>
      <vt:lpstr>Recommendations</vt:lpstr>
      <vt:lpstr>Q&amp;A</vt:lpstr>
      <vt:lpstr> Thank You For Listening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User</dc:creator>
  <cp:lastModifiedBy>Zak M (DA-NAT9)</cp:lastModifiedBy>
  <cp:revision>3</cp:revision>
  <dcterms:created xsi:type="dcterms:W3CDTF">2026-06-01T11:03:21Z</dcterms:created>
  <dcterms:modified xsi:type="dcterms:W3CDTF">2026-07-21T22:59:12Z</dcterms:modified>
</cp:coreProperties>
</file>